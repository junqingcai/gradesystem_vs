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12ff36f387425f" /><Relationship Type="http://schemas.openxmlformats.org/officeDocument/2006/relationships/extended-properties" Target="/docProps/app.xml" Id="R566f95e02d7a4e85" /><Relationship Type="http://schemas.openxmlformats.org/officeDocument/2006/relationships/officeDocument" Target="/ppt/presentation.xml" Id="R2228a938789844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c15c6d1b5a4bc5"/>
  </p:sldMasterIdLst>
  <p:notesMasterIdLst>
    <p:notesMasterId xmlns:r="http://schemas.openxmlformats.org/officeDocument/2006/relationships" r:id="Rc5a59eb029b84848"/>
  </p:notesMasterIdLst>
  <p:sldIdLst>
    <p:sldId xmlns:r="http://schemas.openxmlformats.org/officeDocument/2006/relationships" id="256" r:id="R586b68da3942458d"/>
  </p:sldIdLst>
  <p:sldSz cx="43891200" cy="32918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20bfcb350b4b93" /><Relationship Type="http://schemas.openxmlformats.org/officeDocument/2006/relationships/slideMaster" Target="/ppt/slideMasters/slideMaster1.xml" Id="Rabc15c6d1b5a4bc5" /><Relationship Type="http://schemas.openxmlformats.org/officeDocument/2006/relationships/notesMaster" Target="/ppt/notesMasters/notesMaster1.xml" Id="Rc5a59eb029b84848" /><Relationship Type="http://schemas.openxmlformats.org/officeDocument/2006/relationships/presProps" Target="/ppt/presProps.xml" Id="R30ddac11caf741aa" /><Relationship Type="http://schemas.openxmlformats.org/officeDocument/2006/relationships/viewProps" Target="/ppt/viewProps.xml" Id="Rc0589f0058ff4765" /><Relationship Type="http://schemas.openxmlformats.org/officeDocument/2006/relationships/tableStyles" Target="/ppt/tableStyles.xml" Id="R92237c5cd66f4584" /><Relationship Type="http://schemas.openxmlformats.org/officeDocument/2006/relationships/slide" Target="/ppt/slides/slide1.xml" Id="R586b68da394245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ccd51c35b84f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8ba6d459e94e93" /><Relationship Type="http://schemas.openxmlformats.org/officeDocument/2006/relationships/notesMaster" Target="/ppt/notesMasters/notesMaster1.xml" Id="R8c9fd8faf3f6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89ed19c8ed4b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09e9313d142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ec36d8ead45c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ba7986eb2d464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79067efcd04c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c94b969b2a4cd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3cf3a50bf74f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b30266eafb44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da5f87524d43a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967241f9134a8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c0a5519f0043f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C35675-CA36-4E96-B1BC-E57D550ABF2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291840" y="5387342"/>
            <a:ext cx="37307520" cy="1146048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4A45D5D-EC52-4934-8700-EBD4491C30A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0" y="17289782"/>
            <a:ext cx="32918400" cy="7947658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EA391AE-BBD5-4F1C-9B31-6D9DBB05CF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6BC40F8-AAE7-437A-8AEA-625EA3CCFF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0CCF98-9F2F-4C4D-BF77-A9EB2E01F1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FE0598-E608-41A7-99BB-64F2F7BD3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473C819-5F09-4603-BD4D-74DF5DB46D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09E201-0D01-4F9A-A476-AAE2932B3E3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6BF7F7-6A8F-47F5-A560-24B6006E4C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7053E3B-6ED2-481C-AEF9-46D5A59C14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1A1B51A-318D-4AB5-908D-D134EF110E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94662" y="8206749"/>
            <a:ext cx="37856160" cy="13693138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88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64AF3C-AF56-44FE-A43D-AA5134A247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94662" y="22029429"/>
            <a:ext cx="37856160" cy="720089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045B31B-0705-4003-98EC-6833F412BD8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AF715C-DBA0-441D-9B48-6CC595537D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1E7D1D-EC08-434B-86D2-C3D4D239A3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827CF8-2E18-46E9-A3F2-82B54194C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7A359F-2DDC-4E6E-8819-D905DD02F47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175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98FA20C-1FE8-4A34-A97D-C85DB680A7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219920" y="8763000"/>
            <a:ext cx="18653760" cy="208864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7A7E79F-3748-4EF0-8A7D-7D76127DAD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3B7DFB-4156-47DE-8013-BDC0AF814C9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3D72025-B442-4DCB-A66B-3C6C183D50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1FC310-1FDC-496B-AF24-8C60533EB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1752607"/>
            <a:ext cx="37856160" cy="636270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2FB1885-7EAE-4A71-8C58-371DC25CA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23242" y="8069582"/>
            <a:ext cx="18568032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CCC308-21A6-492D-9E84-5834E76F26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023242" y="12024360"/>
            <a:ext cx="18568032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A41EAF4E-6BAE-49AC-8076-A496D8402DA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219922" y="8069582"/>
            <a:ext cx="18659477" cy="395477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C15565E-BA76-4AC3-97D3-1ABDCE65BCA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22219922" y="12024360"/>
            <a:ext cx="18659477" cy="176860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06F9702A-36E0-4D8B-9D92-CDDA8B8924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2CBB916-8A9F-4D87-84E9-7ABE7CF34F2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8821D74-5BBC-4022-9D64-ACE5B187F2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98C6025-B892-41D2-87EC-6D7B3E29F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05AA7D-D0FD-4E6A-9E25-DBD7077506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AFBF018-38F3-4256-AE80-683ECB90C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6996745-076A-4337-804B-A38F8DCDFC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C87DEB4-A2E3-4284-AD14-D7E2A6C442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DACA89D-2A98-4A14-86FE-F3D78BEC84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284CF82-B62C-4E73-B874-F43191BDFC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AE475A-6685-4F11-96FC-521ABFF5B5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8A40F05-0D6E-4586-AD55-DC2DB6F5001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5360"/>
            </a:lvl1pPr>
            <a:lvl2pPr>
              <a:buNone/>
              <a:defRPr sz="13440"/>
            </a:lvl2pPr>
            <a:lvl3pPr>
              <a:buNone/>
              <a:defRPr sz="11520"/>
            </a:lvl3pPr>
            <a:lvl4pPr>
              <a:buNone/>
              <a:defRPr sz="9600"/>
            </a:lvl4pPr>
            <a:lvl5pPr>
              <a:buNone/>
              <a:defRPr sz="9600"/>
            </a:lvl5pPr>
            <a:lvl6pPr>
              <a:buNone/>
              <a:defRPr sz="9600"/>
            </a:lvl6pPr>
            <a:lvl7pPr>
              <a:buNone/>
              <a:defRPr sz="9600"/>
            </a:lvl7pPr>
            <a:lvl8pPr>
              <a:buNone/>
              <a:defRPr sz="9600"/>
            </a:lvl8pPr>
            <a:lvl9pPr>
              <a:buNone/>
              <a:defRPr sz="96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A4E14D6-341C-409B-AF9B-B161A457B1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A567807-0C3C-44C6-AFFA-D81A022A9F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532FB72-D4BD-4DEC-9A08-4887A00B0FA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291D43-9D50-4F55-B0F4-070056446B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72925CE-7A1F-4982-B083-F36AEE0626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23237" y="2194560"/>
            <a:ext cx="14156054" cy="768096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1536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7BF5B53-2BFF-49C6-8426-5D4DE88E3D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8659477" y="4739647"/>
            <a:ext cx="22219920" cy="23393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7AAD7DD-F6C7-4EE4-B15E-16B026A5F92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23237" y="9875520"/>
            <a:ext cx="14156054" cy="182956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 xmlns:a="http://schemas.openxmlformats.org/drawingml/2006/main">
            <a:pPr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CAC8AE0-BD21-4349-8DD1-7FB51B964A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095EA79-0D39-4D3D-B249-3424D8A6BB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87A8B63-118F-423B-A62B-8CA7FC9B0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B1A1116-794F-4634-B29F-25B5F7247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A9A99A7-AD1A-4CEC-872E-4B3DA2949D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22AB7F-7790-4D80-8208-29ED1B7BBC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DA62D8-6949-457C-9A1C-03027B067D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8BABE00-0585-4F58-88CE-E54D4240C9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B79FC86-C129-4B5D-BBE3-924664A3B5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409642" y="1752600"/>
            <a:ext cx="946404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C5FBD3-80BC-4A1B-895E-15B91E98B7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2" y="1752600"/>
            <a:ext cx="27843480" cy="27896822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A140C04-9CAE-4EEB-9038-CAD826138C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C99FA0-397E-476B-8EEC-FA027383388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954DA9-7404-41ED-BC14-86E8DF55D7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ec460c9bb47e3" /><Relationship Type="http://schemas.openxmlformats.org/officeDocument/2006/relationships/slideLayout" Target="/ppt/slideLayouts/slideLayout1.xml" Id="R5d11708c0cf24a26" /><Relationship Type="http://schemas.openxmlformats.org/officeDocument/2006/relationships/slideLayout" Target="/ppt/slideLayouts/slideLayout2.xml" Id="R94fdaf95ae364888" /><Relationship Type="http://schemas.openxmlformats.org/officeDocument/2006/relationships/slideLayout" Target="/ppt/slideLayouts/slideLayout3.xml" Id="Rc2aada40011e4f65" /><Relationship Type="http://schemas.openxmlformats.org/officeDocument/2006/relationships/slideLayout" Target="/ppt/slideLayouts/slideLayout4.xml" Id="R31716f2332f649bb" /><Relationship Type="http://schemas.openxmlformats.org/officeDocument/2006/relationships/slideLayout" Target="/ppt/slideLayouts/slideLayout5.xml" Id="R536cb534a14842e7" /><Relationship Type="http://schemas.openxmlformats.org/officeDocument/2006/relationships/slideLayout" Target="/ppt/slideLayouts/slideLayout6.xml" Id="Rf2e77811491a44e0" /><Relationship Type="http://schemas.openxmlformats.org/officeDocument/2006/relationships/slideLayout" Target="/ppt/slideLayouts/slideLayout7.xml" Id="Rabfdc31a7e1347d0" /><Relationship Type="http://schemas.openxmlformats.org/officeDocument/2006/relationships/slideLayout" Target="/ppt/slideLayouts/slideLayout8.xml" Id="R438d840097d44184" /><Relationship Type="http://schemas.openxmlformats.org/officeDocument/2006/relationships/slideLayout" Target="/ppt/slideLayouts/slideLayout9.xml" Id="Raa10c7cea1314b70" /><Relationship Type="http://schemas.openxmlformats.org/officeDocument/2006/relationships/slideLayout" Target="/ppt/slideLayouts/slideLayout10.xml" Id="R63eabb8a39bf46de" /><Relationship Type="http://schemas.openxmlformats.org/officeDocument/2006/relationships/slideLayout" Target="/ppt/slideLayouts/slideLayout11.xml" Id="R9f4ee1be105c4a3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F337828-82B0-435A-ACA6-C8C7C3AA3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7520" y="1752607"/>
            <a:ext cx="37856160" cy="63627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C19AF3-0BBE-4027-AEC1-E8CE8C7D28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017520" y="8763000"/>
            <a:ext cx="37856160" cy="20886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81C1D4-7882-4C0F-BB1A-FC8E754650B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1752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9591364-14EC-40AE-A80D-9A76A452C679}" type="datetimeFigureOut">
              <a:t>6/7/2026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93C412-34FC-4DEF-99AA-F87B77B0EE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38960" y="30510487"/>
            <a:ext cx="1481328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92222E2-38E4-46B6-BB55-4B9403E4942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30998160" y="30510487"/>
            <a:ext cx="987552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BCDD9FF-79BB-4C42-B916-6D392B63DD5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11708c0cf24a26"/>
    <p:sldLayoutId xmlns:r="http://schemas.openxmlformats.org/officeDocument/2006/relationships" id="2147483650" r:id="R94fdaf95ae364888"/>
    <p:sldLayoutId xmlns:r="http://schemas.openxmlformats.org/officeDocument/2006/relationships" id="2147483651" r:id="Rc2aada40011e4f65"/>
    <p:sldLayoutId xmlns:r="http://schemas.openxmlformats.org/officeDocument/2006/relationships" id="2147483652" r:id="R31716f2332f649bb"/>
    <p:sldLayoutId xmlns:r="http://schemas.openxmlformats.org/officeDocument/2006/relationships" id="2147483653" r:id="R536cb534a14842e7"/>
    <p:sldLayoutId xmlns:r="http://schemas.openxmlformats.org/officeDocument/2006/relationships" id="2147483654" r:id="Rf2e77811491a44e0"/>
    <p:sldLayoutId xmlns:r="http://schemas.openxmlformats.org/officeDocument/2006/relationships" id="2147483655" r:id="Rabfdc31a7e1347d0"/>
    <p:sldLayoutId xmlns:r="http://schemas.openxmlformats.org/officeDocument/2006/relationships" id="2147483656" r:id="R438d840097d44184"/>
    <p:sldLayoutId xmlns:r="http://schemas.openxmlformats.org/officeDocument/2006/relationships" id="2147483657" r:id="Raa10c7cea1314b70"/>
    <p:sldLayoutId xmlns:r="http://schemas.openxmlformats.org/officeDocument/2006/relationships" id="2147483658" r:id="R63eabb8a39bf46de"/>
    <p:sldLayoutId xmlns:r="http://schemas.openxmlformats.org/officeDocument/2006/relationships" id="2147483659" r:id="R9f4ee1be105c4a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112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097280" indent="-1097280" algn="l">
        <a:lnSpc>
          <a:spcPct val="90000"/>
        </a:lnSpc>
        <a:spcBef>
          <a:spcPts val="4800"/>
        </a:spcBef>
        <a:buChar char="•"/>
        <a:defRPr sz="1344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291840" indent="-1097280" algn="l">
        <a:lnSpc>
          <a:spcPct val="90000"/>
        </a:lnSpc>
        <a:spcBef>
          <a:spcPts val="2400"/>
        </a:spcBef>
        <a:buChar char="•"/>
        <a:defRPr sz="1152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7280" algn="l">
        <a:lnSpc>
          <a:spcPct val="90000"/>
        </a:lnSpc>
        <a:spcBef>
          <a:spcPts val="2400"/>
        </a:spcBef>
        <a:buChar char="•"/>
        <a:defRPr sz="96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96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52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207008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426464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645920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8653760" indent="-1097280" algn="l">
        <a:lnSpc>
          <a:spcPct val="90000"/>
        </a:lnSpc>
        <a:spcBef>
          <a:spcPts val="2400"/>
        </a:spcBef>
        <a:buChar char="•"/>
        <a:defRPr sz="864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19456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438912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658368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877824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97280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316736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536192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7556480" algn="l">
        <a:buNone/>
        <a:defRPr sz="864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34490ccfb48fa" /><Relationship Type="http://schemas.openxmlformats.org/officeDocument/2006/relationships/image" Target="/ppt/media/image.gif" Id="R98e24e734b8d4cf7" /><Relationship Type="http://schemas.openxmlformats.org/officeDocument/2006/relationships/notesSlide" Target="/ppt/notesSlides/notesSlide1.xml" Id="Ra01b87c093fc42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E0B6EAC-CAF2-44A8-84C1-08D9C8DF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78" y="319600"/>
            <a:ext cx="43079437" cy="2424931"/>
          </a:xfrm>
          <a:prstGeom xmlns:a="http://schemas.openxmlformats.org/drawingml/2006/main" prst="roundRect">
            <a:avLst>
              <a:gd name="adj" fmla="val 7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A575FD-134C-4566-9A66-38467CA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85" y="3131252"/>
            <a:ext cx="10972800" cy="14002506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44C3F4F-6BAD-429F-8C96-D3535479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01  BACKGROUND</a:t>
            </a:r>
          </a:p>
        </p:txBody>
      </p:sp>
      <p:sp>
        <p:nvSpPr>
          <p:cNvPr id="98" name="Rectangle 97">
            <a:extLst xmlns:a="http://schemas.openxmlformats.org/drawingml/2006/main">
              <a:ext uri="{FF2B5EF4-FFF2-40B4-BE49-F238E27FC236}">
                <a16:creationId xmlns:a16="http://schemas.microsoft.com/office/drawing/2014/main" id="{AA6C8F77-9F3F-4F55-8DE7-DB43DE17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3092064"/>
            <a:ext cx="31703555" cy="7114479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0" name="Rectangle 99">
            <a:extLst xmlns:a="http://schemas.openxmlformats.org/drawingml/2006/main">
              <a:ext uri="{FF2B5EF4-FFF2-40B4-BE49-F238E27FC236}">
                <a16:creationId xmlns:a16="http://schemas.microsoft.com/office/drawing/2014/main" id="{C49C401C-85C6-41A9-8FC8-C2A896DA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10691347"/>
            <a:ext cx="31703556" cy="14313498"/>
          </a:xfrm>
          <a:prstGeom xmlns:a="http://schemas.openxmlformats.org/drawingml/2006/main" prst="roundRect">
            <a:avLst>
              <a:gd name="adj" fmla="val 11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Rectangle 100">
            <a:extLst xmlns:a="http://schemas.openxmlformats.org/drawingml/2006/main">
              <a:ext uri="{FF2B5EF4-FFF2-40B4-BE49-F238E27FC236}">
                <a16:creationId xmlns:a16="http://schemas.microsoft.com/office/drawing/2014/main" id="{15A90485-E87D-4D8B-8A5C-60C7CC66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78" y="17539854"/>
            <a:ext cx="10972800" cy="14910699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43462E99-FBC6-43DE-A812-E5E85E47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546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02  RESEARCH QUESTION(S)</a:t>
            </a:r>
          </a:p>
        </p:txBody>
      </p:sp>
      <p:sp>
        <p:nvSpPr>
          <p:cNvPr id="117" name="TextBox 116">
            <a:extLst xmlns:a="http://schemas.openxmlformats.org/drawingml/2006/main">
              <a:ext uri="{FF2B5EF4-FFF2-40B4-BE49-F238E27FC236}">
                <a16:creationId xmlns:a16="http://schemas.microsoft.com/office/drawing/2014/main" id="{0F4F1E22-E192-4EE4-970B-61DA2BF8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333750"/>
            <a:ext cx="1009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03  METHOD</a:t>
            </a:r>
          </a:p>
        </p:txBody>
      </p:sp>
      <p:sp>
        <p:nvSpPr>
          <p:cNvPr id="125" name="Rectangle 124">
            <a:extLst xmlns:a="http://schemas.openxmlformats.org/drawingml/2006/main">
              <a:ext uri="{FF2B5EF4-FFF2-40B4-BE49-F238E27FC236}">
                <a16:creationId xmlns:a16="http://schemas.microsoft.com/office/drawing/2014/main" id="{C01DA009-A30A-4915-9D9B-0603A065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59" y="25435915"/>
            <a:ext cx="10972798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6" name="TextBox 125">
            <a:extLst xmlns:a="http://schemas.openxmlformats.org/drawingml/2006/main">
              <a:ext uri="{FF2B5EF4-FFF2-40B4-BE49-F238E27FC236}">
                <a16:creationId xmlns:a16="http://schemas.microsoft.com/office/drawing/2014/main" id="{ADEDD434-ACBC-4A32-BA9E-9E7E3849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57175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05  DISCUSSION &amp; CONCLUSION</a:t>
            </a:r>
          </a:p>
        </p:txBody>
      </p:sp>
      <p:sp>
        <p:nvSpPr>
          <p:cNvPr id="127" name="Rectangle 126">
            <a:extLst xmlns:a="http://schemas.openxmlformats.org/drawingml/2006/main">
              <a:ext uri="{FF2B5EF4-FFF2-40B4-BE49-F238E27FC236}">
                <a16:creationId xmlns:a16="http://schemas.microsoft.com/office/drawing/2014/main" id="{EE7DA5C2-3D48-42DD-ABBA-C082C6D2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1" y="25431646"/>
            <a:ext cx="9483635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6" name="TextBox 135">
            <a:extLst xmlns:a="http://schemas.openxmlformats.org/drawingml/2006/main">
              <a:ext uri="{FF2B5EF4-FFF2-40B4-BE49-F238E27FC236}">
                <a16:creationId xmlns:a16="http://schemas.microsoft.com/office/drawing/2014/main" id="{650A4A90-DCAB-42BA-937A-9DDA858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0" y="25717500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07  REFERENCES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59A801-D24C-48FF-A8FE-14B3AFC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"/>
            <a:ext cx="32385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225" b="1">
                <a:solidFill>
                  <a:srgbClr val="173B6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  <a:ea typeface="Trebuchet MS"/>
                <a:cs typeface="Trebuchet MS"/>
              </a:rPr>
              <a:t>Generative AI and the STEM-Social Science Wage Gap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3225" b="1" i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in China's Labor Market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6990EC-EF58-4341-9700-BDAD98C9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9379" y="25427962"/>
            <a:ext cx="10251515" cy="7022592"/>
          </a:xfrm>
          <a:prstGeom xmlns:a="http://schemas.openxmlformats.org/drawingml/2006/main" prst="roundRect">
            <a:avLst>
              <a:gd name="adj" fmla="val 24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A1AF1CF-1A57-451B-8519-459854A7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0" y="25717500"/>
            <a:ext cx="976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06  EVALUATION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5F2993B-0A41-4B88-BAF5-40C8FBA9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76700"/>
            <a:ext cx="966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DATA ANALYSIS DESIGN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FC2DAAD-4CAE-4D75-871E-7DC150F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25" y="40767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20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VARIABLE MAP</a:t>
            </a:r>
          </a:p>
        </p:txBody>
      </p:sp>
      <p:pic>
        <p:nvPicPr>
          <p:cNvPr id="14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24e734b8d4c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4095" y="0"/>
            <a:ext cx="3024505" cy="2352040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</p:spPr>
      </p:pic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1B7F892-76B3-4CAF-A1B7-4DFB42D8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3429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Presented by: Student A, Student B, Student C, Student D  |  Instructor: Zhu Jingyi</a:t>
            </a:r>
          </a:p>
        </p:txBody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73CB03B-CD5C-4F4B-876E-53AB4263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66950"/>
            <a:ext cx="34290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Poster Presentation, English for International Academic Communication  |  June 21, 2026</a:t>
            </a:r>
          </a:p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D30F0AAB-7BCC-4E94-A5BE-E9983BAC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0" y="266700"/>
            <a:ext cx="40957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AI + WORK + WAGES</a:t>
            </a:r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BDB276D9-CEF1-453D-BF8E-16FBBAAC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0" y="85725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CAF89AFB-ABBA-46F1-A152-A9E4F610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0" y="857250"/>
            <a:ext cx="190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A4B5B73F-1421-4220-9D57-05BC5D8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0" y="781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947729BB-6393-4122-A03A-A1497CD9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0" y="781050"/>
            <a:ext cx="19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72227B6A-909C-4C88-9291-BEB47B8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0" y="7810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B38714F8-22AD-48FB-A51C-3990B63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0" y="781050"/>
            <a:ext cx="190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723E4759-BCA3-42CE-B963-AC32B3D8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0" y="8572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9AC98402-552F-4B96-8788-180CB61E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0" y="11906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2B6D1205-6311-4FF2-9455-C90BED1D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0" y="781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3B220BE6-94C4-4F94-B133-8C039460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0" y="1285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933B4E0-72D0-46CC-81C2-49E1D82F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1000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3E154FB-545A-45DE-BAD0-CAD734F6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1D1142A9-81A0-47BD-8F55-E7588D6C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0530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Generative AI entered education and workplaces rapidly after 2022.</a:t>
            </a:r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39B09DCD-7319-4723-9F5F-8C8F1628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6B58448D-3B82-441D-9AC6-5D8C23A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China expected 12.22 million college graduates in 2025.</a:t>
            </a:r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A57EF60-A397-4948-9C00-5D1025C6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E059218-D4D2-4A8F-8F23-2F819CBF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4830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STEM skills traditionally receive higher wage returns.</a:t>
            </a:r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AD617C4-0EA0-4D7E-A37A-604A110E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BD40F446-FD78-4D52-ADE3-3B4027C4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019800"/>
            <a:ext cx="967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Social science work is increasingly AI-assisted.</a:t>
            </a:r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DE051C5A-281D-45D1-9873-91467C8E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705600"/>
            <a:ext cx="10001250" cy="287655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DC47BF1E-AA46-4A52-B446-977D8F9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9151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30E7BBF1-D721-4F1E-9C62-76A0B020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9163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WHY THIS QUESTION MATTERS</a:t>
            </a:r>
          </a:p>
        </p:txBody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7B4B066E-30DB-4720-90FC-00DBBDA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410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9018B9A9-BDDA-4D52-9B96-46F2FA8D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334250"/>
            <a:ext cx="891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Graduate labor-market competition is intensifying.</a:t>
            </a:r>
          </a:p>
        </p:txBody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22A123F6-D52B-4F2D-9817-372CFB2E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15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AFB1F95E-88D4-40FE-AAC2-DD222F7E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7839075"/>
            <a:ext cx="891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may change the value of majors and workplace skills.</a:t>
            </a:r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894A4CC-A3C1-4801-8B35-216883AC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42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1B8DA5D5-85AC-44D2-AFD4-39B76D58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343900"/>
            <a:ext cx="891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The wage gap reflects broader skill-based inequality.</a:t>
            </a:r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CD2DFF0D-3145-4453-BFCE-D54AE7B8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9249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DA00E92E-E7A1-4495-854B-B93A046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848725"/>
            <a:ext cx="891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The answer helps students prepare for AI-shaped work.</a:t>
            </a:r>
          </a:p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12A76C8-CC72-46BA-8BB9-296CB9E7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7917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4E9E121-8985-43D1-B890-78B92B26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7265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KEY CONCEPTS</a:t>
            </a:r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D179768-934E-4478-8D6B-FA384CCF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191750"/>
            <a:ext cx="995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299CCA05-9822-47B5-84DF-802CE55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53465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</a:t>
            </a:r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DDD7C099-3CF2-4253-B3B4-2EA9912E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363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STEM graduates</a:t>
            </a:r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B453C578-D5E9-42BE-96C0-8907ED55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7251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Science, technology, engineering, and mathematics majors.</a:t>
            </a:r>
          </a:p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7EB90272-AAC6-4EC9-96B5-3E009EC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0"/>
            <a:ext cx="995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C495BE35-E913-40FC-ACD3-4A30F8E9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19634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SS</a:t>
            </a:r>
          </a:p>
        </p:txBody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2FFE543E-754A-45F1-A51A-95F2622C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17919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Social science graduates</a:t>
            </a:r>
          </a:p>
        </p:txBody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BF0583DB-FF87-4C70-A455-100CD5C9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215390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Economics, management, law, sociology, communication, public administration, and related fields.</a:t>
            </a:r>
          </a:p>
        </p:txBody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B9013B4D-C7CA-4E7C-AD02-4CF0AD1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049250"/>
            <a:ext cx="9953625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4D32ED54-BA39-49E0-8974-A256E5FA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39215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$</a:t>
            </a:r>
          </a:p>
        </p:txBody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8F7D899-A77D-4786-BB72-4E35FE93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2207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Wage differential</a:t>
            </a:r>
          </a:p>
        </p:txBody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FF8CADAA-0ECC-4462-BCDB-B4F6E0A4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3582650"/>
            <a:ext cx="857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The difference in average earnings between two graduate groups.</a:t>
            </a:r>
          </a:p>
        </p:txBody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12B47507-3296-4D15-B608-56B120AB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20875"/>
            <a:ext cx="9953625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95250" rIns="1714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KEY TENSION  Complement to STEM, or a general-purpose tool across majors?</a:t>
            </a:r>
          </a:p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7F8FE2D4-C908-45CC-A957-8DBA6D30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68975"/>
            <a:ext cx="9953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A92613B8-FF5D-4814-9533-B2CF790E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16625"/>
            <a:ext cx="9953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8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8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Has generative AI widened or narrowed the wage gap between STEM and social science graduates in China?</a:t>
            </a:r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9D1D1CF-E546-430A-BEEF-6B6724AE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0"/>
            <a:ext cx="9953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  Do technology-intensive occupations offer higher wages?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2  Are STEM majors still concentrated in high-paying early-career jobs?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1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3  Can social science graduates gain from AI-enhanced productivity?</a:t>
            </a:r>
          </a:p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D7FCBCB-F027-43D3-8561-D0FD99FC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E80E915C-44BC-4488-997B-B8D27CA3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02700"/>
            <a:ext cx="973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RESEARCH LOGIC</a:t>
            </a:r>
          </a:p>
        </p:txBody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D01030AB-975B-40B5-AA46-6373A7B4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21800"/>
            <a:ext cx="1619250" cy="85725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Generative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AI</a:t>
            </a:r>
          </a:p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D860EAEF-DB61-4F36-9C3A-2A3FED85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288500"/>
            <a:ext cx="23812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1F39E679-597A-4A4C-B8EB-D729BAD5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2021800"/>
            <a:ext cx="1619250" cy="85725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Complements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STEM skills</a:t>
            </a:r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419AA91A-4F3F-4C11-BE08-C6ACBFD3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2288500"/>
            <a:ext cx="23812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E606379E-D401-424B-BDFD-1E23A816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021800"/>
            <a:ext cx="1619250" cy="85725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Substitutes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routine tasks</a:t>
            </a:r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7C71C5B-00FB-4787-9B4F-DDB9A77F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0"/>
            <a:ext cx="23812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F1F71DD5-9D6F-40AA-94C5-97C0701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021800"/>
            <a:ext cx="1619250" cy="85725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Spreads AI literacy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across majors</a:t>
            </a:r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75F60C71-C3B2-4A95-9AA2-060A584F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288500"/>
            <a:ext cx="238125" cy="3238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0C697F4D-CC08-4703-A098-4632845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021800"/>
            <a:ext cx="1619250" cy="857250"/>
          </a:xfrm>
          <a:prstGeom xmlns:a="http://schemas.openxmlformats.org/drawingml/2006/main" prst="roundRect">
            <a:avLst>
              <a:gd name="adj" fmla="val 14444"/>
            </a:avLst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Changes the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wage gap</a:t>
            </a:r>
          </a:p>
        </p:txBody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0916BA2F-E019-4BB4-AE79-A9B7964E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145750"/>
            <a:ext cx="309562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173B6C"/>
            </a:solidFill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D625AB35-1946-4485-90F3-2788A1A0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172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37A47CB6-A9F9-414E-8FFC-63FF95D6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172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SKILL COMPLEMENTARITY</a:t>
            </a:r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D34E8B3-B41F-45CB-8177-5B91B5EF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907750"/>
            <a:ext cx="27527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raises productivity for programming, data, and engineering skills.</a:t>
            </a:r>
          </a:p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C2A2A638-1E4A-497E-9F0A-8CC1FBA8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145750"/>
            <a:ext cx="309562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E907AFE0-46C2-4D83-981A-A873785E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172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B69E17B1-8620-478F-8689-873FDAEB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3172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TASK SUBSTITUTION</a:t>
            </a:r>
          </a:p>
        </p:txBody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15BDF28A-CE4E-438A-BA36-97B8BF89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907750"/>
            <a:ext cx="27527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automates routine writing, analysis, coding, and administrative tasks.</a:t>
            </a:r>
          </a:p>
        </p:txBody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FAE5F637-60AD-457E-AC12-B2B61A40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145750"/>
            <a:ext cx="3095625" cy="3048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F39C12"/>
            </a:solidFill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C161F26D-34FB-4D6A-BFDE-4315F60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172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718805C4-EE27-4784-9A05-417D4479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1720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SKILL DIFFUSION</a:t>
            </a:r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63F29132-0FAE-4FC4-8C64-8F31D282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907750"/>
            <a:ext cx="2752725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lets non-STEM graduates perform analytical and technical tasks more efficiently.</a:t>
            </a:r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455D5A3-A51C-45CD-A851-4F0F31B2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0"/>
            <a:ext cx="99536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H1  AI complements technical skills -&gt; the STEM premium may increase.</a:t>
            </a:r>
          </a:p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7E5DBAF5-2FB3-47B1-9429-3BC08C5C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0"/>
            <a:ext cx="9953625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H2  AI lowers barriers to analytical work -&gt; the major-based gap may decrease.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C926291C-1E82-4DCE-8548-2A157F68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670250"/>
            <a:ext cx="9953625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5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Expected answer: AI is more likely to reshape the gap than move it in only one direction.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AD933A95-99E4-4F95-8B08-9525920A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952875"/>
            <a:ext cx="3105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7359BB93-F7DD-45A5-ADCE-258185E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52950"/>
            <a:ext cx="96678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Descriptive and comparative design, not a full causal model.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72D6300-6CEF-4142-B19C-87BAB9D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0482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</a:t>
            </a:r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872A1428-6FCF-4018-871A-2732F40A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5048250"/>
            <a:ext cx="904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BE14A328-68BD-4CDC-8585-A60B6A32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16255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Describe the technical-worker wage premium.</a:t>
            </a:r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BAA2A7D5-00ED-412E-9900-9E59E406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1150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</a:t>
            </a:r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00C657DB-D07B-4C99-856A-9409CA5E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6115050"/>
            <a:ext cx="904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4C3831F-7386-4773-B76C-99BF5B9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22935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Compare early-career wages across majors.</a:t>
            </a:r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71160955-7EA0-4544-BE74-8636A654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71818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3</a:t>
            </a:r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DEC9D870-90F5-4AA0-BFDE-F2CBD9D7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7181850"/>
            <a:ext cx="904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A5CF21C-5E7D-4D8C-9CA2-56EEA96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29615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Identify AI-skill demand in job postings.</a:t>
            </a:r>
          </a:p>
        </p:txBody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4E1BC9BE-72AC-4184-A2CD-C61C468D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248650"/>
            <a:ext cx="43815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</a:t>
            </a:r>
          </a:p>
        </p:txBody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691758E9-5E94-458D-8116-625E2DAB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4450" y="8248650"/>
            <a:ext cx="904875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9C12"/>
            </a:solidFill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E3B997C2-D6E6-4EEF-A5D6-D8B4EBE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362950"/>
            <a:ext cx="8667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Interpret whether AI widens, narrows, or reshapes the gap.</a:t>
            </a:r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26069511-BBE1-43B0-B5DE-A6389A44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26625" y="4648200"/>
            <a:ext cx="3009900" cy="4286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2F6FA3"/>
            </a:solidFill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764DCE4-4256-492D-AF84-7E6E7F14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9975" y="4810125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DEPENDENT VARIABLE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AF47768A-7980-409F-B7B7-FBEE27CE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539115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93045356-BA44-45EB-B4BA-5DEDBC18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6CDB9686-4196-4673-89C9-D7CFDE1E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25" y="56197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Monthly wage</a:t>
            </a:r>
          </a:p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0385979-3892-46BC-87C4-A0A8DB75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AD21EA7C-F322-41AB-946E-D631B359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25" y="63055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Annual wage</a:t>
            </a:r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5914FAA9-04CE-467E-9494-6F86807C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706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253D6875-2546-441A-B679-9C97380A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25" y="69913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Advertised salary</a:t>
            </a:r>
          </a:p>
        </p:txBody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70D15640-70B6-47C0-9677-3B88CE67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17125" y="775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5D3DE33D-B786-4F4B-B4FB-90ABEFF4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725" y="76771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STEM wage premium</a:t>
            </a:r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1851D59-A1FC-44AE-95EE-6AC6A240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84175" y="4648200"/>
            <a:ext cx="3009900" cy="4286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594DEA2D-21B1-4F9F-BB3F-2579414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7525" y="4810125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INDEPENDENT VARIABLES</a:t>
            </a:r>
          </a:p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3D89CE0-DF14-4623-9477-2A954A84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75" y="539115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0331EE15-0390-4B45-928E-15A70B95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75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251B8970-645D-4678-B2D3-B1C6344BC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3275" y="56197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Major type</a:t>
            </a:r>
          </a:p>
        </p:txBody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0F573301-A8D2-4654-A57E-7C90DC4B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75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462E628C-DAEA-4AA3-A077-E80F2CCD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3275" y="63055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exposure</a:t>
            </a:r>
          </a:p>
        </p:txBody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3DBF45E4-599D-465F-96DF-EABC0B51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75" y="706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A3AD8FD0-08EE-47D0-AD95-96CF74EA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3275" y="69913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skill requirements</a:t>
            </a:r>
          </a:p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F887DE22-2E9B-4C54-AD61-8E2E6A59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4675" y="775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30825BA4-EBDB-42CE-8C0F-40F03C76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3275" y="76771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Post-2022 diffusion</a:t>
            </a:r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86949AA6-4640-473A-B1FD-EBDF3E59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41725" y="4648200"/>
            <a:ext cx="3009900" cy="42862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2E8B78"/>
            </a:solidFill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0C7DDC4D-33BA-4329-8799-7FBC391A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75075" y="4810125"/>
            <a:ext cx="2743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63" b="1">
                <a:solidFill>
                  <a:srgbClr val="2E8B78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1">
                <a:solidFill>
                  <a:srgbClr val="2E8B78"/>
                </a:solidFill>
                <a:latin typeface="Trebuchet MS"/>
                <a:ea typeface="Trebuchet MS"/>
                <a:cs typeface="Trebuchet MS"/>
              </a:rPr>
              <a:t>CONTROL FACTORS</a:t>
            </a:r>
          </a:p>
        </p:txBody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281CD762-CB14-4342-B25F-5D0EEA80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25" y="5391150"/>
            <a:ext cx="262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AE5A94FE-0877-4F42-A6FB-B6D6CCEF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25" y="5695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9F6337E7-4D96-4128-A717-FA5A1955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25" y="56197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Region / industry</a:t>
            </a:r>
          </a:p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C70786F1-74BD-47E8-A26F-C228BF89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25" y="6381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8FC0B065-1572-4889-9761-F7BE7E5B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25" y="63055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Occupation / experience</a:t>
            </a:r>
          </a:p>
        </p:txBody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0755CEC9-3BE2-4070-9CA9-40B46BA3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25" y="7067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23495A18-551F-4EE7-B30E-C34E71B9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25" y="69913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Education level</a:t>
            </a:r>
          </a:p>
        </p:txBody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AD0E6B4D-F2F8-40FC-8884-1FB517D7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32225" y="775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645824EA-CFB5-4598-803E-86426FE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825" y="7677150"/>
            <a:ext cx="2400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Employer type</a:t>
            </a:r>
          </a:p>
        </p:txBody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9A8A9D6E-56BC-46F1-86D7-FF8A67C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41338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5AE28BB-060B-46CE-8017-AB656487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4114800"/>
            <a:ext cx="982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EVIDENCE BASE</a:t>
            </a:r>
          </a:p>
        </p:txBody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CB6BB946-850D-47C2-A9E8-F9ACEDD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4552950"/>
            <a:ext cx="10191750" cy="2333625"/>
          </a:xfrm>
          <a:prstGeom xmlns:a="http://schemas.openxmlformats.org/drawingml/2006/main" prst="roundRect">
            <a:avLst>
              <a:gd name="adj" fmla="val 653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B123124D-BEFC-40D1-9B74-B9BC102C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0" y="4762500"/>
            <a:ext cx="97631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Official statistics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Graduate employment reports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CGSS / CFPS / CHFS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Online job-posting studies</a:t>
            </a:r>
          </a:p>
        </p:txBody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4B1E70B8-B67F-415C-AAB8-B4A03141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70866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74CD2106-3CA9-4D92-AE36-EE9F6218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0" y="7067550"/>
            <a:ext cx="982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INTERPRETATION MODEL</a:t>
            </a:r>
          </a:p>
        </p:txBody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A8D085BD-9A78-4C76-BF52-8C1D15C40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0" y="7505700"/>
            <a:ext cx="101917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C0614BDB-662A-4BAD-ADDA-4D88FC78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0" y="7696200"/>
            <a:ext cx="9763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log(Wage) = beta0 + beta1 STEM + beta2 PostAI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+ beta3 STEM x PostAI + Controls + epsilon</a:t>
            </a:r>
          </a:p>
        </p:txBody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3EF868F2-D909-4893-AD36-B4A815DA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0" y="8496300"/>
            <a:ext cx="976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beta3 indicates whether the STEM premium changed after AI diffusion.</a:t>
            </a:r>
          </a:p>
        </p:txBody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8F27ACAC-2893-4727-9EB7-3894DAC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10877550"/>
            <a:ext cx="11239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3810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232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04  RESULTS</a:t>
            </a:r>
          </a:p>
        </p:txBody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A4B0C339-EDA3-4241-AFE4-C9CBE60D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1591925"/>
            <a:ext cx="30480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E97759A6-10D2-4FA4-BCAE-523E460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10991850"/>
            <a:ext cx="17526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Four descriptive signals point to a strong technical premium and broader AI-skill diffusion.</a:t>
            </a:r>
          </a:p>
        </p:txBody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E9926C0F-925E-47E0-90CB-1B21061D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1830050"/>
            <a:ext cx="50482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9525">
            <a:solidFill>
              <a:srgbClr val="173B6C"/>
            </a:solidFill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ED4874DF-83FF-4949-9278-73D1BA0C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2001500"/>
            <a:ext cx="4381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48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12.22</a:t>
            </a:r>
          </a:p>
        </p:txBody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37DD60EC-4EED-4F32-A387-E30A883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2954000"/>
            <a:ext cx="438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42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42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MILLION GRADUATES</a:t>
            </a:r>
          </a:p>
        </p:txBody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69400272-DA67-43FA-BCD5-50E7559E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25375" y="13354050"/>
            <a:ext cx="438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Expected in China, 2025</a:t>
            </a:r>
          </a:p>
        </p:txBody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CDDCAF11-2D20-41F9-81DC-56A17390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3906500"/>
            <a:ext cx="46672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BE73FD92-E2C4-4B88-87B8-7748719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4001750"/>
            <a:ext cx="4400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INTERPRETATION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B46209BB-74A2-4BCB-AD7D-0EFDE14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14268450"/>
            <a:ext cx="4400550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 larger graduate population increases entry-level competition. Skills, majors, and AI literacy may matter more for wages.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3986D820-624C-487C-9295-989C3799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11830050"/>
            <a:ext cx="1181100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9944217A-0D97-4582-AE7B-C4CE70C3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0" y="120015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AC9772BB-A289-48E4-A736-4CF87C1A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2700" y="11982450"/>
            <a:ext cx="897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2024 WAGE COMPARISON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4C4D7809-3671-4DCA-8A9F-AD46191D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0" y="12039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CNY / year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D21BBF2D-EB20-4DB5-96EF-CCC6A3C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0" y="142303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0FB6B8A6-0110-45B4-B778-63714102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0600" y="13306797"/>
            <a:ext cx="876300" cy="923553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26F89DAF-AAB4-45F9-A6B6-B47D9248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0" y="13021047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124,110</a:t>
            </a:r>
          </a:p>
        </p:txBody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C0CBC43B-7DBC-4458-914F-9C70BB6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46750" y="1430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Urban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non-private</a:t>
            </a:r>
          </a:p>
        </p:txBody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CFCF5C34-C060-46BE-8816-CDB6C86B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2600" y="13713351"/>
            <a:ext cx="876300" cy="516999"/>
          </a:xfrm>
          <a:prstGeom xmlns:a="http://schemas.openxmlformats.org/drawingml/2006/main" prst="roundRect">
            <a:avLst>
              <a:gd name="adj" fmla="val 18424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5F8F0EDB-BAE7-4587-8868-76E41C33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0" y="13427601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69,476</a:t>
            </a:r>
          </a:p>
        </p:txBody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B082C24D-3F55-4F65-B834-9425216B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0" y="1430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Urban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private</a:t>
            </a:r>
          </a:p>
        </p:txBody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9F011E4C-9B43-4C71-A837-BB3A78FE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34600" y="13128680"/>
            <a:ext cx="876300" cy="110167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1A6E5DA5-0447-4945-BA3C-3A171CD0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6000" y="1284293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148,046</a:t>
            </a:r>
          </a:p>
        </p:txBody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B88C1476-1827-4E68-B92C-B95ED821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0750" y="143065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Professional</a:t>
            </a:r>
          </a:p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&amp; technical</a:t>
            </a:r>
          </a:p>
        </p:txBody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58462CFB-4736-4AF0-85C7-619A3CFC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0" y="12401550"/>
            <a:ext cx="4238625" cy="3571875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80213B05-41D8-42FF-A089-3C982975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8350" y="12496800"/>
            <a:ext cx="3971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INTERPRETATION</a:t>
            </a:r>
          </a:p>
        </p:txBody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CB9EBF7-FF89-4529-A135-EFD68528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8350" y="12763500"/>
            <a:ext cx="39719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Professional and technical workers earn above both urban-sector averages, showing that technical expertise remains strongly rewarded.</a:t>
            </a:r>
          </a:p>
        </p:txBody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5FDFC7B6-6E1E-490A-8101-E4F06190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0" y="11830050"/>
            <a:ext cx="13239750" cy="4476750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4C92DCD3-C671-40B0-AD36-65387B5E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0" y="120015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EC629CE8-5790-48EE-ABBF-89B432DE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94200" y="11982450"/>
            <a:ext cx="126396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AI SKILL DEMAND</a:t>
            </a:r>
          </a:p>
        </p:txBody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58B94854-F3BA-4339-BABB-AC1EC02B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24968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Current</a:t>
            </a:r>
          </a:p>
        </p:txBody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DB64E74-5D64-43D5-B441-8B3FE6A1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2820650"/>
            <a:ext cx="72390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2F53D8FD-E13F-4A91-9AB8-EAA0D1FB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2820650"/>
            <a:ext cx="405384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5887EAC6-1C53-40EE-9F45-88B4B932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28915" y="128778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28%</a:t>
            </a:r>
          </a:p>
        </p:txBody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AF423CF5-FC3A-46A1-B6A0-DCF3777C0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33731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Potential future</a:t>
            </a:r>
          </a:p>
        </p:txBody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2399312-2C13-4B5D-AD38-BC1447CF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3696950"/>
            <a:ext cx="72390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E4CC0300-BAF1-4548-AD33-7395C92F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65625" y="13696950"/>
            <a:ext cx="6515100" cy="342900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44661C3B-7FE3-4F16-8621-40E3512E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0175" y="1375410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45%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EBBFD09E-42F0-4574-8711-0869BDCC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0" y="12401550"/>
            <a:ext cx="5191125" cy="3571875"/>
          </a:xfrm>
          <a:prstGeom xmlns:a="http://schemas.openxmlformats.org/drawingml/2006/main" prst="roundRect">
            <a:avLst>
              <a:gd name="adj" fmla="val 426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1A2B2CD2-BFA9-4135-92CA-97E63A15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0" y="12496800"/>
            <a:ext cx="49244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E8B78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2E8B78"/>
                </a:solidFill>
                <a:latin typeface="Trebuchet MS"/>
                <a:ea typeface="Trebuchet MS"/>
                <a:cs typeface="Trebuchet MS"/>
              </a:rPr>
              <a:t>INTERPRETATION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27C74FFD-BCE8-4235-9518-58113CB9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6100" y="12763500"/>
            <a:ext cx="49244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demand is not limited to programmers. As ChatGPT-related skills spread, social science graduates may gain if they develop AI literacy.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D1D7F118-B5DC-48D7-AB8A-092A771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6497300"/>
            <a:ext cx="30480000" cy="47625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846DE0B2-E7E9-4B42-AA1C-9CC00DF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66687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6A8C0160-40D8-4DD7-A372-4D362C03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16649700"/>
            <a:ext cx="26974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HIGH-PAYING UNDERGRADUATE MAJORS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326D084C-B9AE-41BC-9032-71FA6B55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0" y="16706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spcBef>
                <a:spcPts val="0"/>
              </a:spcBef>
              <a:spcAft>
                <a:spcPts val="0"/>
              </a:spcAft>
              <a:def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defRPr>
            </a:pPr>
            <a:r>
              <a:rPr sz="975" b="0">
                <a:solidFill>
                  <a:srgbClr val="667085"/>
                </a:solidFill>
                <a:latin typeface="Trebuchet MS"/>
                <a:ea typeface="Trebuchet MS"/>
                <a:cs typeface="Trebuchet MS"/>
              </a:rPr>
              <a:t>CNY / month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054D6562-49DF-4DB5-B902-7A16514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71450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Information Security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7691B2E-8A4A-493C-8070-4031B008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71831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2AA084E2-B0F9-407F-8E59-DFB67585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7183100"/>
            <a:ext cx="15109424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11244AC-A3A2-4D4D-8B35-7C240D30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7999" y="172021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7,599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063FB9C0-8859-4418-A506-374E4AF3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76403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Microelectronics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2A7FBDF2-6732-4875-BE01-0CA38C33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76784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A46F588-4D37-433B-84C4-3C31481A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7678400"/>
            <a:ext cx="14479119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CDE6D1B-FE45-494C-8258-61A0C46F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47694" y="176974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7,282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A8BB7766-F6F4-4C20-8D97-D8F8CD0D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81356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Electronic Science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6E53468B-B5BB-4015-81D0-44334AF7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81737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F52DDC0F-5FD8-402A-BA1B-29C18982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8173700"/>
            <a:ext cx="1434590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48711CF7-18BA-424E-809E-26FCFC5B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4475" y="181927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7,215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83D80E30-DA13-43A7-AE9C-2638E774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86309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Automation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40EBE514-2F09-411D-A9DA-812E261F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86690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0C2FA7AC-3975-4FB7-8B03-54451026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8669000"/>
            <a:ext cx="14133147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3D29EEB2-3247-4C1A-B5B8-E0A5BBD3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1722" y="186880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7,108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9BAAAD9-E6C7-402E-A797-12319F92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91262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Software Engineering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AE5BE570-CBFE-427C-8721-2EF7F54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91643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23FCE022-050B-4F91-9CAD-ABA0B473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9164300"/>
            <a:ext cx="14101334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2F6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E8BC5848-E008-4982-B1AD-EC917254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9909" y="191833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2F6FA3"/>
                </a:solidFill>
                <a:latin typeface="Trebuchet MS"/>
                <a:ea typeface="Trebuchet MS"/>
                <a:cs typeface="Trebuchet MS"/>
              </a:rPr>
              <a:t>7,092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4E75C485-64EF-4F7A-8D71-7E5D7806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9621500"/>
            <a:ext cx="26003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25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Undergraduate average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EE6D5491-1A02-478C-A76E-50477B6C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9659600"/>
            <a:ext cx="15906750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1" name="">
            <a:extLst xmlns:a="http://schemas.openxmlformats.org/drawingml/2006/main">
              <a:ext uri="{FF2B5EF4-FFF2-40B4-BE49-F238E27FC236}">
                <a16:creationId xmlns:a16="http://schemas.microsoft.com/office/drawing/2014/main" id="{5306905B-18E3-4DD8-A655-CEB8A05F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75" y="19659600"/>
            <a:ext cx="12325743" cy="323850"/>
          </a:xfrm>
          <a:prstGeom xmlns:a="http://schemas.openxmlformats.org/drawingml/2006/main" prst="roundRect">
            <a:avLst>
              <a:gd name="adj" fmla="val 26471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2" name="">
            <a:extLst xmlns:a="http://schemas.openxmlformats.org/drawingml/2006/main">
              <a:ext uri="{FF2B5EF4-FFF2-40B4-BE49-F238E27FC236}">
                <a16:creationId xmlns:a16="http://schemas.microsoft.com/office/drawing/2014/main" id="{8B14E9D5-AA6B-4EE1-A403-E08D288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94318" y="1967865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6,199</a:t>
            </a:r>
          </a:p>
        </p:txBody>
      </p:sp>
      <p:sp>
        <p:nvSpPr>
          <p:cNvPr id="463" name="">
            <a:extLst xmlns:a="http://schemas.openxmlformats.org/drawingml/2006/main">
              <a:ext uri="{FF2B5EF4-FFF2-40B4-BE49-F238E27FC236}">
                <a16:creationId xmlns:a16="http://schemas.microsoft.com/office/drawing/2014/main" id="{AAC99B83-9AB5-4475-B41D-1786CDCF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0" y="17125950"/>
            <a:ext cx="9858375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9DDEA"/>
            </a:solidFill>
            <a:prstDash val="solid"/>
          </a:ln>
        </p:spPr>
      </p:sp>
      <p:sp>
        <p:nvSpPr>
          <p:cNvPr id="464" name="">
            <a:extLst xmlns:a="http://schemas.openxmlformats.org/drawingml/2006/main">
              <a:ext uri="{FF2B5EF4-FFF2-40B4-BE49-F238E27FC236}">
                <a16:creationId xmlns:a16="http://schemas.microsoft.com/office/drawing/2014/main" id="{9FAB8FBA-156F-4CBB-9353-EEE7F24E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0" y="17221200"/>
            <a:ext cx="95916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INTERPRETATION</a:t>
            </a:r>
          </a:p>
        </p:txBody>
      </p:sp>
      <p:sp>
        <p:nvSpPr>
          <p:cNvPr id="465" name="">
            <a:extLst xmlns:a="http://schemas.openxmlformats.org/drawingml/2006/main">
              <a:ext uri="{FF2B5EF4-FFF2-40B4-BE49-F238E27FC236}">
                <a16:creationId xmlns:a16="http://schemas.microsoft.com/office/drawing/2014/main" id="{22B5EE9A-91C2-4C4A-9627-8C9D9E47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0" y="17487900"/>
            <a:ext cx="959167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The highest-paying majors are concentrated in information technology and engineering. This supports a continuing early-career STEM wage advantage.</a:t>
            </a:r>
          </a:p>
        </p:txBody>
      </p:sp>
      <p:sp>
        <p:nvSpPr>
          <p:cNvPr id="466" name="">
            <a:extLst xmlns:a="http://schemas.openxmlformats.org/drawingml/2006/main">
              <a:ext uri="{FF2B5EF4-FFF2-40B4-BE49-F238E27FC236}">
                <a16:creationId xmlns:a16="http://schemas.microsoft.com/office/drawing/2014/main" id="{DDBA8221-74D1-4FE4-8878-F3044990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4503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7" name="">
            <a:extLst xmlns:a="http://schemas.openxmlformats.org/drawingml/2006/main">
              <a:ext uri="{FF2B5EF4-FFF2-40B4-BE49-F238E27FC236}">
                <a16:creationId xmlns:a16="http://schemas.microsoft.com/office/drawing/2014/main" id="{2635A819-3938-4B72-825C-37C3DB79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1431250"/>
            <a:ext cx="30308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EVIDENCE SUMMARY</a:t>
            </a:r>
          </a:p>
        </p:txBody>
      </p:sp>
      <p:sp>
        <p:nvSpPr>
          <p:cNvPr id="468" name="">
            <a:extLst xmlns:a="http://schemas.openxmlformats.org/drawingml/2006/main">
              <a:ext uri="{FF2B5EF4-FFF2-40B4-BE49-F238E27FC236}">
                <a16:creationId xmlns:a16="http://schemas.microsoft.com/office/drawing/2014/main" id="{E38A52BA-D652-4070-B067-A6709FE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1831300"/>
            <a:ext cx="976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173B6C"/>
            </a:solidFill>
            <a:prstDash val="solid"/>
          </a:ln>
        </p:spPr>
      </p:sp>
      <p:sp>
        <p:nvSpPr>
          <p:cNvPr id="469" name="">
            <a:extLst xmlns:a="http://schemas.openxmlformats.org/drawingml/2006/main">
              <a:ext uri="{FF2B5EF4-FFF2-40B4-BE49-F238E27FC236}">
                <a16:creationId xmlns:a16="http://schemas.microsoft.com/office/drawing/2014/main" id="{19D42559-F592-4163-B7EE-2C4272E9D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220218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$</a:t>
            </a:r>
          </a:p>
        </p:txBody>
      </p:sp>
      <p:sp>
        <p:nvSpPr>
          <p:cNvPr id="470" name="">
            <a:extLst xmlns:a="http://schemas.openxmlformats.org/drawingml/2006/main">
              <a:ext uri="{FF2B5EF4-FFF2-40B4-BE49-F238E27FC236}">
                <a16:creationId xmlns:a16="http://schemas.microsoft.com/office/drawing/2014/main" id="{5432D6F4-E7E6-4EE5-87AF-D1E24FE3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21964650"/>
            <a:ext cx="871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Technical workers earn above-average wages.</a:t>
            </a:r>
          </a:p>
        </p:txBody>
      </p:sp>
      <p:sp>
        <p:nvSpPr>
          <p:cNvPr id="471" name="">
            <a:extLst xmlns:a="http://schemas.openxmlformats.org/drawingml/2006/main">
              <a:ext uri="{FF2B5EF4-FFF2-40B4-BE49-F238E27FC236}">
                <a16:creationId xmlns:a16="http://schemas.microsoft.com/office/drawing/2014/main" id="{B044F209-ED55-4974-B5A9-4FA728D5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226695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Implication: STEM skills still have strong market value.</a:t>
            </a:r>
          </a:p>
        </p:txBody>
      </p:sp>
      <p:sp>
        <p:nvSpPr>
          <p:cNvPr id="472" name="">
            <a:extLst xmlns:a="http://schemas.openxmlformats.org/drawingml/2006/main">
              <a:ext uri="{FF2B5EF4-FFF2-40B4-BE49-F238E27FC236}">
                <a16:creationId xmlns:a16="http://schemas.microsoft.com/office/drawing/2014/main" id="{5EF19D71-61DF-4F7B-AD0D-2996B130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0" y="21831300"/>
            <a:ext cx="976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473" name="">
            <a:extLst xmlns:a="http://schemas.openxmlformats.org/drawingml/2006/main">
              <a:ext uri="{FF2B5EF4-FFF2-40B4-BE49-F238E27FC236}">
                <a16:creationId xmlns:a16="http://schemas.microsoft.com/office/drawing/2014/main" id="{72D496D8-D621-455A-B493-65C3DB3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55200" y="220218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ED</a:t>
            </a:r>
          </a:p>
        </p:txBody>
      </p:sp>
      <p:sp>
        <p:nvSpPr>
          <p:cNvPr id="474" name="">
            <a:extLst xmlns:a="http://schemas.openxmlformats.org/drawingml/2006/main">
              <a:ext uri="{FF2B5EF4-FFF2-40B4-BE49-F238E27FC236}">
                <a16:creationId xmlns:a16="http://schemas.microsoft.com/office/drawing/2014/main" id="{ED049137-D1CB-4A9A-9118-3E39416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1950" y="21964650"/>
            <a:ext cx="871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High-paying majors are mostly STEM-related.</a:t>
            </a:r>
          </a:p>
        </p:txBody>
      </p:sp>
      <p:sp>
        <p:nvSpPr>
          <p:cNvPr id="475" name="">
            <a:extLst xmlns:a="http://schemas.openxmlformats.org/drawingml/2006/main">
              <a:ext uri="{FF2B5EF4-FFF2-40B4-BE49-F238E27FC236}">
                <a16:creationId xmlns:a16="http://schemas.microsoft.com/office/drawing/2014/main" id="{8EB4F96D-859E-4379-A7C5-CD1A6A44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0" y="226695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Implication: STEM may retain an early-career advantage.</a:t>
            </a:r>
          </a:p>
        </p:txBody>
      </p:sp>
      <p:sp>
        <p:nvSpPr>
          <p:cNvPr id="476" name="">
            <a:extLst xmlns:a="http://schemas.openxmlformats.org/drawingml/2006/main">
              <a:ext uri="{FF2B5EF4-FFF2-40B4-BE49-F238E27FC236}">
                <a16:creationId xmlns:a16="http://schemas.microsoft.com/office/drawing/2014/main" id="{38042619-10F2-433D-97A9-C45A56F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0" y="21831300"/>
            <a:ext cx="9763125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2E8B78"/>
            </a:solidFill>
            <a:prstDash val="solid"/>
          </a:ln>
        </p:spPr>
      </p:sp>
      <p:sp>
        <p:nvSpPr>
          <p:cNvPr id="477" name="">
            <a:extLst xmlns:a="http://schemas.openxmlformats.org/drawingml/2006/main">
              <a:ext uri="{FF2B5EF4-FFF2-40B4-BE49-F238E27FC236}">
                <a16:creationId xmlns:a16="http://schemas.microsoft.com/office/drawing/2014/main" id="{1B7A7B2B-C18C-42AB-8113-7AD6F993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950" y="2202180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AI</a:t>
            </a:r>
          </a:p>
        </p:txBody>
      </p:sp>
      <p:sp>
        <p:nvSpPr>
          <p:cNvPr id="478" name="">
            <a:extLst xmlns:a="http://schemas.openxmlformats.org/drawingml/2006/main">
              <a:ext uri="{FF2B5EF4-FFF2-40B4-BE49-F238E27FC236}">
                <a16:creationId xmlns:a16="http://schemas.microsoft.com/office/drawing/2014/main" id="{3D59F9D4-2D71-4736-B4D9-C77BB14C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13700" y="21964650"/>
            <a:ext cx="8715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skills are spreading across occupations.</a:t>
            </a:r>
          </a:p>
        </p:txBody>
      </p:sp>
      <p:sp>
        <p:nvSpPr>
          <p:cNvPr id="479" name="">
            <a:extLst xmlns:a="http://schemas.openxmlformats.org/drawingml/2006/main">
              <a:ext uri="{FF2B5EF4-FFF2-40B4-BE49-F238E27FC236}">
                <a16:creationId xmlns:a16="http://schemas.microsoft.com/office/drawing/2014/main" id="{12EBB210-ADBF-471D-919B-CE06FFD8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050" y="226695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E8B78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E8B78"/>
                </a:solidFill>
                <a:latin typeface="Trebuchet MS"/>
                <a:ea typeface="Trebuchet MS"/>
                <a:cs typeface="Trebuchet MS"/>
              </a:rPr>
              <a:t>Implication: Social science graduates can also benefit.</a:t>
            </a:r>
          </a:p>
        </p:txBody>
      </p:sp>
      <p:sp>
        <p:nvSpPr>
          <p:cNvPr id="480" name="">
            <a:extLst xmlns:a="http://schemas.openxmlformats.org/drawingml/2006/main">
              <a:ext uri="{FF2B5EF4-FFF2-40B4-BE49-F238E27FC236}">
                <a16:creationId xmlns:a16="http://schemas.microsoft.com/office/drawing/2014/main" id="{FC72510A-4F45-4D22-92B9-A3DFE8E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736300"/>
            <a:ext cx="304800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173B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OVERALL IMPLICATION  Generative AI is more likely to reshape the wage gap than simply widen or narrow it.</a:t>
            </a:r>
          </a:p>
        </p:txBody>
      </p:sp>
      <p:sp>
        <p:nvSpPr>
          <p:cNvPr id="481" name="">
            <a:extLst xmlns:a="http://schemas.openxmlformats.org/drawingml/2006/main">
              <a:ext uri="{FF2B5EF4-FFF2-40B4-BE49-F238E27FC236}">
                <a16:creationId xmlns:a16="http://schemas.microsoft.com/office/drawing/2014/main" id="{A017197B-83E4-4291-A7A3-A698B490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63842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2" name="">
            <a:extLst xmlns:a="http://schemas.openxmlformats.org/drawingml/2006/main">
              <a:ext uri="{FF2B5EF4-FFF2-40B4-BE49-F238E27FC236}">
                <a16:creationId xmlns:a16="http://schemas.microsoft.com/office/drawing/2014/main" id="{080518B7-4F3D-4CE4-8BCC-E36BEA70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65938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3" name="">
            <a:extLst xmlns:a="http://schemas.openxmlformats.org/drawingml/2006/main">
              <a:ext uri="{FF2B5EF4-FFF2-40B4-BE49-F238E27FC236}">
                <a16:creationId xmlns:a16="http://schemas.microsoft.com/office/drawing/2014/main" id="{B586A5F6-5636-42E8-840B-4EC4B20C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6574750"/>
            <a:ext cx="992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THREE POSSIBLE OUTCOMES</a:t>
            </a:r>
          </a:p>
        </p:txBody>
      </p:sp>
      <p:sp>
        <p:nvSpPr>
          <p:cNvPr id="484" name="">
            <a:extLst xmlns:a="http://schemas.openxmlformats.org/drawingml/2006/main">
              <a:ext uri="{FF2B5EF4-FFF2-40B4-BE49-F238E27FC236}">
                <a16:creationId xmlns:a16="http://schemas.microsoft.com/office/drawing/2014/main" id="{8853DC76-EAF2-4E09-AD7C-22B7A576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7003375"/>
            <a:ext cx="319087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173B6C"/>
            </a:solidFill>
            <a:prstDash val="solid"/>
          </a:ln>
        </p:spPr>
      </p:sp>
      <p:sp>
        <p:nvSpPr>
          <p:cNvPr id="485" name="">
            <a:extLst xmlns:a="http://schemas.openxmlformats.org/drawingml/2006/main">
              <a:ext uri="{FF2B5EF4-FFF2-40B4-BE49-F238E27FC236}">
                <a16:creationId xmlns:a16="http://schemas.microsoft.com/office/drawing/2014/main" id="{0AAC6C30-ACE9-449C-ACC3-87A9F244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27165300"/>
            <a:ext cx="2924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WIDENING GAP</a:t>
            </a:r>
          </a:p>
        </p:txBody>
      </p:sp>
      <p:sp>
        <p:nvSpPr>
          <p:cNvPr id="486" name="">
            <a:extLst xmlns:a="http://schemas.openxmlformats.org/drawingml/2006/main">
              <a:ext uri="{FF2B5EF4-FFF2-40B4-BE49-F238E27FC236}">
                <a16:creationId xmlns:a16="http://schemas.microsoft.com/office/drawing/2014/main" id="{2C3ED437-470D-4532-9DA7-DDD4F47D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7660600"/>
            <a:ext cx="28479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mainly complements technical skills, increasing the STEM wage premium.</a:t>
            </a:r>
          </a:p>
        </p:txBody>
      </p:sp>
      <p:sp>
        <p:nvSpPr>
          <p:cNvPr id="487" name="">
            <a:extLst xmlns:a="http://schemas.openxmlformats.org/drawingml/2006/main">
              <a:ext uri="{FF2B5EF4-FFF2-40B4-BE49-F238E27FC236}">
                <a16:creationId xmlns:a16="http://schemas.microsoft.com/office/drawing/2014/main" id="{2EEDD38E-FECD-4B15-92C5-7C161C5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27003375"/>
            <a:ext cx="319087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4288">
            <a:solidFill>
              <a:srgbClr val="F39C12"/>
            </a:solidFill>
            <a:prstDash val="solid"/>
          </a:ln>
        </p:spPr>
      </p:sp>
      <p:sp>
        <p:nvSpPr>
          <p:cNvPr id="488" name="">
            <a:extLst xmlns:a="http://schemas.openxmlformats.org/drawingml/2006/main">
              <a:ext uri="{FF2B5EF4-FFF2-40B4-BE49-F238E27FC236}">
                <a16:creationId xmlns:a16="http://schemas.microsoft.com/office/drawing/2014/main" id="{AF4D1808-489A-4CB6-AA8A-84EC9A5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01975" y="27165300"/>
            <a:ext cx="2924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NARROWING GAP</a:t>
            </a:r>
          </a:p>
        </p:txBody>
      </p:sp>
      <p:sp>
        <p:nvSpPr>
          <p:cNvPr id="489" name="">
            <a:extLst xmlns:a="http://schemas.openxmlformats.org/drawingml/2006/main">
              <a:ext uri="{FF2B5EF4-FFF2-40B4-BE49-F238E27FC236}">
                <a16:creationId xmlns:a16="http://schemas.microsoft.com/office/drawing/2014/main" id="{3F9357D2-D418-4373-80C4-093AF340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0075" y="27660600"/>
            <a:ext cx="28479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lowers barriers to analysis, writing, and business research.</a:t>
            </a:r>
          </a:p>
        </p:txBody>
      </p:sp>
      <p:sp>
        <p:nvSpPr>
          <p:cNvPr id="490" name="">
            <a:extLst xmlns:a="http://schemas.openxmlformats.org/drawingml/2006/main">
              <a:ext uri="{FF2B5EF4-FFF2-40B4-BE49-F238E27FC236}">
                <a16:creationId xmlns:a16="http://schemas.microsoft.com/office/drawing/2014/main" id="{E0ABB670-CEFC-4D9B-8417-711559FB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25" y="27003375"/>
            <a:ext cx="319087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491" name="">
            <a:extLst xmlns:a="http://schemas.openxmlformats.org/drawingml/2006/main">
              <a:ext uri="{FF2B5EF4-FFF2-40B4-BE49-F238E27FC236}">
                <a16:creationId xmlns:a16="http://schemas.microsoft.com/office/drawing/2014/main" id="{928B8F69-E688-497E-9C9C-180FDE71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30975" y="27165300"/>
            <a:ext cx="29241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RESHAPED GAP</a:t>
            </a:r>
          </a:p>
        </p:txBody>
      </p:sp>
      <p:sp>
        <p:nvSpPr>
          <p:cNvPr id="492" name="">
            <a:extLst xmlns:a="http://schemas.openxmlformats.org/drawingml/2006/main">
              <a:ext uri="{FF2B5EF4-FFF2-40B4-BE49-F238E27FC236}">
                <a16:creationId xmlns:a16="http://schemas.microsoft.com/office/drawing/2014/main" id="{5D8E96B4-0E80-47DC-B8BC-24D25F2E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9075" y="27660600"/>
            <a:ext cx="28479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23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Hybrid AI literacy plus domain knowledge becomes the main advantage.</a:t>
            </a:r>
          </a:p>
        </p:txBody>
      </p:sp>
      <p:sp>
        <p:nvSpPr>
          <p:cNvPr id="493" name="">
            <a:extLst xmlns:a="http://schemas.openxmlformats.org/drawingml/2006/main">
              <a:ext uri="{FF2B5EF4-FFF2-40B4-BE49-F238E27FC236}">
                <a16:creationId xmlns:a16="http://schemas.microsoft.com/office/drawing/2014/main" id="{E96DEB50-8059-4AA3-AE90-8ADAEDEE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9403675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4" name="">
            <a:extLst xmlns:a="http://schemas.openxmlformats.org/drawingml/2006/main">
              <a:ext uri="{FF2B5EF4-FFF2-40B4-BE49-F238E27FC236}">
                <a16:creationId xmlns:a16="http://schemas.microsoft.com/office/drawing/2014/main" id="{9FF57528-AC3F-4516-BC04-F1F5096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29384625"/>
            <a:ext cx="9925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FINAL CONCLUSION</a:t>
            </a:r>
          </a:p>
        </p:txBody>
      </p:sp>
      <p:sp>
        <p:nvSpPr>
          <p:cNvPr id="495" name="">
            <a:extLst xmlns:a="http://schemas.openxmlformats.org/drawingml/2006/main">
              <a:ext uri="{FF2B5EF4-FFF2-40B4-BE49-F238E27FC236}">
                <a16:creationId xmlns:a16="http://schemas.microsoft.com/office/drawing/2014/main" id="{5FCA137D-2BAD-4397-8BF6-5A456E9C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29765625"/>
            <a:ext cx="100965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9EAF7"/>
          </a:solidFill>
          <a:ln xmlns:a="http://schemas.openxmlformats.org/drawingml/2006/main" w="14288">
            <a:solidFill>
              <a:srgbClr val="2E8B78"/>
            </a:solidFill>
            <a:prstDash val="solid"/>
          </a:ln>
        </p:spPr>
      </p:sp>
      <p:sp>
        <p:nvSpPr>
          <p:cNvPr id="496" name="">
            <a:extLst xmlns:a="http://schemas.openxmlformats.org/drawingml/2006/main">
              <a:ext uri="{FF2B5EF4-FFF2-40B4-BE49-F238E27FC236}">
                <a16:creationId xmlns:a16="http://schemas.microsoft.com/office/drawing/2014/main" id="{163826CA-2E9E-44B8-936E-2551F6E8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9965650"/>
            <a:ext cx="97155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The evidence does not support a simple “STEM wins, social science loses” story. AI changes the structure of skill demand: STEM gains from technical complementarity, while social science can gain through AI-assisted analysis, communication, and decision-making.</a:t>
            </a:r>
          </a:p>
        </p:txBody>
      </p:sp>
      <p:sp>
        <p:nvSpPr>
          <p:cNvPr id="497" name="">
            <a:extLst xmlns:a="http://schemas.openxmlformats.org/drawingml/2006/main">
              <a:ext uri="{FF2B5EF4-FFF2-40B4-BE49-F238E27FC236}">
                <a16:creationId xmlns:a16="http://schemas.microsoft.com/office/drawing/2014/main" id="{2041FE3D-492F-490F-8CA8-66150BFF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6384250"/>
            <a:ext cx="9572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8" name="">
            <a:extLst xmlns:a="http://schemas.openxmlformats.org/drawingml/2006/main">
              <a:ext uri="{FF2B5EF4-FFF2-40B4-BE49-F238E27FC236}">
                <a16:creationId xmlns:a16="http://schemas.microsoft.com/office/drawing/2014/main" id="{1E8E6666-28CF-46EF-BDB0-249F74A3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74375" y="26574750"/>
            <a:ext cx="3000375" cy="519112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2E8B78"/>
            </a:solidFill>
            <a:prstDash val="solid"/>
          </a:ln>
        </p:spPr>
      </p:sp>
      <p:sp>
        <p:nvSpPr>
          <p:cNvPr id="499" name="">
            <a:extLst xmlns:a="http://schemas.openxmlformats.org/drawingml/2006/main">
              <a:ext uri="{FF2B5EF4-FFF2-40B4-BE49-F238E27FC236}">
                <a16:creationId xmlns:a16="http://schemas.microsoft.com/office/drawing/2014/main" id="{A91A61DA-A94E-485B-8728-3A521A24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7725" y="2676525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+</a:t>
            </a:r>
          </a:p>
        </p:txBody>
      </p:sp>
      <p:sp>
        <p:nvSpPr>
          <p:cNvPr id="500" name="">
            <a:extLst xmlns:a="http://schemas.openxmlformats.org/drawingml/2006/main">
              <a:ext uri="{FF2B5EF4-FFF2-40B4-BE49-F238E27FC236}">
                <a16:creationId xmlns:a16="http://schemas.microsoft.com/office/drawing/2014/main" id="{CB14A6DA-D61B-4B49-9AE5-BD23197C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6375" y="268224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2E8B78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2E8B78"/>
                </a:solidFill>
                <a:latin typeface="Trebuchet MS"/>
                <a:ea typeface="Trebuchet MS"/>
                <a:cs typeface="Trebuchet MS"/>
              </a:rPr>
              <a:t>STRENGTHS</a:t>
            </a:r>
          </a:p>
        </p:txBody>
      </p:sp>
      <p:sp>
        <p:nvSpPr>
          <p:cNvPr id="501" name="">
            <a:extLst xmlns:a="http://schemas.openxmlformats.org/drawingml/2006/main">
              <a:ext uri="{FF2B5EF4-FFF2-40B4-BE49-F238E27FC236}">
                <a16:creationId xmlns:a16="http://schemas.microsoft.com/office/drawing/2014/main" id="{ACD70B2B-B34A-4FBD-B643-7FCC4EA1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825" y="2755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2" name="">
            <a:extLst xmlns:a="http://schemas.openxmlformats.org/drawingml/2006/main">
              <a:ext uri="{FF2B5EF4-FFF2-40B4-BE49-F238E27FC236}">
                <a16:creationId xmlns:a16="http://schemas.microsoft.com/office/drawing/2014/main" id="{2FC68C9F-CCA2-40E2-B833-C8F2C8F7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274796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Multiple evidence types</a:t>
            </a:r>
          </a:p>
        </p:txBody>
      </p:sp>
      <p:sp>
        <p:nvSpPr>
          <p:cNvPr id="503" name="">
            <a:extLst xmlns:a="http://schemas.openxmlformats.org/drawingml/2006/main">
              <a:ext uri="{FF2B5EF4-FFF2-40B4-BE49-F238E27FC236}">
                <a16:creationId xmlns:a16="http://schemas.microsoft.com/office/drawing/2014/main" id="{366D9899-167D-4F95-B0C7-FDC1B48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825" y="28470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4" name="">
            <a:extLst xmlns:a="http://schemas.openxmlformats.org/drawingml/2006/main">
              <a:ext uri="{FF2B5EF4-FFF2-40B4-BE49-F238E27FC236}">
                <a16:creationId xmlns:a16="http://schemas.microsoft.com/office/drawing/2014/main" id="{BCD99535-6AFD-4787-9389-DB6C91B1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283940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Links AI to graduate employment</a:t>
            </a:r>
          </a:p>
        </p:txBody>
      </p:sp>
      <p:sp>
        <p:nvSpPr>
          <p:cNvPr id="505" name="">
            <a:extLst xmlns:a="http://schemas.openxmlformats.org/drawingml/2006/main">
              <a:ext uri="{FF2B5EF4-FFF2-40B4-BE49-F238E27FC236}">
                <a16:creationId xmlns:a16="http://schemas.microsoft.com/office/drawing/2014/main" id="{2D71A429-51D0-4E1B-A2D4-874A42C0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825" y="2938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6" name="">
            <a:extLst xmlns:a="http://schemas.openxmlformats.org/drawingml/2006/main">
              <a:ext uri="{FF2B5EF4-FFF2-40B4-BE49-F238E27FC236}">
                <a16:creationId xmlns:a16="http://schemas.microsoft.com/office/drawing/2014/main" id="{006E5FF6-8ACE-4F66-B3C6-E4CDA2B6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293084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Focuses on wage inequality</a:t>
            </a:r>
          </a:p>
        </p:txBody>
      </p:sp>
      <p:sp>
        <p:nvSpPr>
          <p:cNvPr id="507" name="">
            <a:extLst xmlns:a="http://schemas.openxmlformats.org/drawingml/2006/main">
              <a:ext uri="{FF2B5EF4-FFF2-40B4-BE49-F238E27FC236}">
                <a16:creationId xmlns:a16="http://schemas.microsoft.com/office/drawing/2014/main" id="{6E991BB1-2023-416E-87A1-2B0A961C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825" y="3029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B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8" name="">
            <a:extLst xmlns:a="http://schemas.openxmlformats.org/drawingml/2006/main">
              <a:ext uri="{FF2B5EF4-FFF2-40B4-BE49-F238E27FC236}">
                <a16:creationId xmlns:a16="http://schemas.microsoft.com/office/drawing/2014/main" id="{EC13F5CD-BC73-4E95-AD42-B7725E97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4425" y="302228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Uses official and market evidence</a:t>
            </a:r>
          </a:p>
        </p:txBody>
      </p:sp>
      <p:sp>
        <p:nvSpPr>
          <p:cNvPr id="509" name="">
            <a:extLst xmlns:a="http://schemas.openxmlformats.org/drawingml/2006/main">
              <a:ext uri="{FF2B5EF4-FFF2-40B4-BE49-F238E27FC236}">
                <a16:creationId xmlns:a16="http://schemas.microsoft.com/office/drawing/2014/main" id="{F513927F-AECC-4359-B023-E39286E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0" y="26574750"/>
            <a:ext cx="3000375" cy="519112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14288">
            <a:solidFill>
              <a:srgbClr val="F39C12"/>
            </a:solidFill>
            <a:prstDash val="solid"/>
          </a:ln>
        </p:spPr>
      </p:sp>
      <p:sp>
        <p:nvSpPr>
          <p:cNvPr id="510" name="">
            <a:extLst xmlns:a="http://schemas.openxmlformats.org/drawingml/2006/main">
              <a:ext uri="{FF2B5EF4-FFF2-40B4-BE49-F238E27FC236}">
                <a16:creationId xmlns:a16="http://schemas.microsoft.com/office/drawing/2014/main" id="{FFBA32A6-312E-49EB-8BB5-B8425B34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0" y="2676525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!</a:t>
            </a:r>
          </a:p>
        </p:txBody>
      </p:sp>
      <p:sp>
        <p:nvSpPr>
          <p:cNvPr id="511" name="">
            <a:extLst xmlns:a="http://schemas.openxmlformats.org/drawingml/2006/main">
              <a:ext uri="{FF2B5EF4-FFF2-40B4-BE49-F238E27FC236}">
                <a16:creationId xmlns:a16="http://schemas.microsoft.com/office/drawing/2014/main" id="{CD0F194A-106B-4ACA-9FB5-DD1B57A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0" y="268224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F39C12"/>
                </a:solidFill>
                <a:latin typeface="Trebuchet MS"/>
                <a:ea typeface="Trebuchet MS"/>
                <a:cs typeface="Trebuchet MS"/>
              </a:rPr>
              <a:t>LIMITATIONS</a:t>
            </a:r>
          </a:p>
        </p:txBody>
      </p:sp>
      <p:sp>
        <p:nvSpPr>
          <p:cNvPr id="512" name="">
            <a:extLst xmlns:a="http://schemas.openxmlformats.org/drawingml/2006/main">
              <a:ext uri="{FF2B5EF4-FFF2-40B4-BE49-F238E27FC236}">
                <a16:creationId xmlns:a16="http://schemas.microsoft.com/office/drawing/2014/main" id="{73B2BA14-F995-46E7-B399-A93B6FF8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2755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3" name="">
            <a:extLst xmlns:a="http://schemas.openxmlformats.org/drawingml/2006/main">
              <a:ext uri="{FF2B5EF4-FFF2-40B4-BE49-F238E27FC236}">
                <a16:creationId xmlns:a16="http://schemas.microsoft.com/office/drawing/2014/main" id="{E637F5C0-ED43-4370-B16D-89B7FC76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0" y="274796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Wages not classified by major</a:t>
            </a:r>
          </a:p>
        </p:txBody>
      </p:sp>
      <p:sp>
        <p:nvSpPr>
          <p:cNvPr id="514" name="">
            <a:extLst xmlns:a="http://schemas.openxmlformats.org/drawingml/2006/main">
              <a:ext uri="{FF2B5EF4-FFF2-40B4-BE49-F238E27FC236}">
                <a16:creationId xmlns:a16="http://schemas.microsoft.com/office/drawing/2014/main" id="{08B7446D-6654-41EA-9327-8EA75DF3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28470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5" name="">
            <a:extLst xmlns:a="http://schemas.openxmlformats.org/drawingml/2006/main">
              <a:ext uri="{FF2B5EF4-FFF2-40B4-BE49-F238E27FC236}">
                <a16:creationId xmlns:a16="http://schemas.microsoft.com/office/drawing/2014/main" id="{541DC0A7-2856-41E7-A524-10EA56A4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0" y="283940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Postings are advertised wages</a:t>
            </a:r>
          </a:p>
        </p:txBody>
      </p:sp>
      <p:sp>
        <p:nvSpPr>
          <p:cNvPr id="516" name="">
            <a:extLst xmlns:a="http://schemas.openxmlformats.org/drawingml/2006/main">
              <a:ext uri="{FF2B5EF4-FFF2-40B4-BE49-F238E27FC236}">
                <a16:creationId xmlns:a16="http://schemas.microsoft.com/office/drawing/2014/main" id="{CD57BE02-8309-4060-8662-2B533562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2938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7" name="">
            <a:extLst xmlns:a="http://schemas.openxmlformats.org/drawingml/2006/main">
              <a:ext uri="{FF2B5EF4-FFF2-40B4-BE49-F238E27FC236}">
                <a16:creationId xmlns:a16="http://schemas.microsoft.com/office/drawing/2014/main" id="{69DD9B12-D41B-463F-B12B-49FAE822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0" y="293084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AI adoption is hard to measure</a:t>
            </a:r>
          </a:p>
        </p:txBody>
      </p:sp>
      <p:sp>
        <p:nvSpPr>
          <p:cNvPr id="518" name="">
            <a:extLst xmlns:a="http://schemas.openxmlformats.org/drawingml/2006/main">
              <a:ext uri="{FF2B5EF4-FFF2-40B4-BE49-F238E27FC236}">
                <a16:creationId xmlns:a16="http://schemas.microsoft.com/office/drawing/2014/main" id="{B445B73F-8326-4CA4-A8AD-BFEC79A1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36700" y="3029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9" name="">
            <a:extLst xmlns:a="http://schemas.openxmlformats.org/drawingml/2006/main">
              <a:ext uri="{FF2B5EF4-FFF2-40B4-BE49-F238E27FC236}">
                <a16:creationId xmlns:a16="http://schemas.microsoft.com/office/drawing/2014/main" id="{C4F3244C-17F3-4FE7-957F-86F6432E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5300" y="302228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Cycles and regions also matter</a:t>
            </a:r>
          </a:p>
        </p:txBody>
      </p:sp>
      <p:sp>
        <p:nvSpPr>
          <p:cNvPr id="520" name="">
            <a:extLst xmlns:a="http://schemas.openxmlformats.org/drawingml/2006/main">
              <a:ext uri="{FF2B5EF4-FFF2-40B4-BE49-F238E27FC236}">
                <a16:creationId xmlns:a16="http://schemas.microsoft.com/office/drawing/2014/main" id="{52AB586C-427B-47C7-A0C9-F32FF92B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25" y="26574750"/>
            <a:ext cx="3000375" cy="5191125"/>
          </a:xfrm>
          <a:prstGeom xmlns:a="http://schemas.openxmlformats.org/drawingml/2006/main" prst="roundRect">
            <a:avLst>
              <a:gd name="adj" fmla="val 5079"/>
            </a:avLst>
          </a:prstGeom>
          <a:solidFill xmlns:a="http://schemas.openxmlformats.org/drawingml/2006/main">
            <a:srgbClr val="F3EEFA"/>
          </a:solidFill>
          <a:ln xmlns:a="http://schemas.openxmlformats.org/drawingml/2006/main" w="14288">
            <a:solidFill>
              <a:srgbClr val="7E57C2"/>
            </a:solidFill>
            <a:prstDash val="solid"/>
          </a:ln>
        </p:spPr>
      </p:sp>
      <p:sp>
        <p:nvSpPr>
          <p:cNvPr id="521" name="">
            <a:extLst xmlns:a="http://schemas.openxmlformats.org/drawingml/2006/main">
              <a:ext uri="{FF2B5EF4-FFF2-40B4-BE49-F238E27FC236}">
                <a16:creationId xmlns:a16="http://schemas.microsoft.com/office/drawing/2014/main" id="{0EB93DD3-3AAA-43CF-8056-C5A2555C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89475" y="26765250"/>
            <a:ext cx="51435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200" b="1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&gt;</a:t>
            </a:r>
          </a:p>
        </p:txBody>
      </p:sp>
      <p:sp>
        <p:nvSpPr>
          <p:cNvPr id="522" name="">
            <a:extLst xmlns:a="http://schemas.openxmlformats.org/drawingml/2006/main">
              <a:ext uri="{FF2B5EF4-FFF2-40B4-BE49-F238E27FC236}">
                <a16:creationId xmlns:a16="http://schemas.microsoft.com/office/drawing/2014/main" id="{A62AE490-CF20-4CAD-A646-C05A45D0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25" y="26822400"/>
            <a:ext cx="2047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275" b="1">
                <a:solidFill>
                  <a:srgbClr val="7E57C2"/>
                </a:solidFill>
                <a:latin typeface="Trebuchet MS"/>
                <a:ea typeface="Trebuchet MS"/>
                <a:cs typeface="Trebuchet MS"/>
              </a:defRPr>
            </a:pPr>
            <a:r>
              <a:rPr sz="1275" b="1">
                <a:solidFill>
                  <a:srgbClr val="7E57C2"/>
                </a:solidFill>
                <a:latin typeface="Trebuchet MS"/>
                <a:ea typeface="Trebuchet MS"/>
                <a:cs typeface="Trebuchet MS"/>
              </a:rPr>
              <a:t>FUTURE WORK</a:t>
            </a:r>
          </a:p>
        </p:txBody>
      </p:sp>
      <p:sp>
        <p:nvSpPr>
          <p:cNvPr id="523" name="">
            <a:extLst xmlns:a="http://schemas.openxmlformats.org/drawingml/2006/main">
              <a:ext uri="{FF2B5EF4-FFF2-40B4-BE49-F238E27FC236}">
                <a16:creationId xmlns:a16="http://schemas.microsoft.com/office/drawing/2014/main" id="{2146952B-28D6-41B5-A787-3C146726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75" y="2755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4" name="">
            <a:extLst xmlns:a="http://schemas.openxmlformats.org/drawingml/2006/main">
              <a:ext uri="{FF2B5EF4-FFF2-40B4-BE49-F238E27FC236}">
                <a16:creationId xmlns:a16="http://schemas.microsoft.com/office/drawing/2014/main" id="{5B042724-9450-451D-A383-7C748EE08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175" y="274796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Collect city-level postings</a:t>
            </a:r>
          </a:p>
        </p:txBody>
      </p:sp>
      <p:sp>
        <p:nvSpPr>
          <p:cNvPr id="525" name="">
            <a:extLst xmlns:a="http://schemas.openxmlformats.org/drawingml/2006/main">
              <a:ext uri="{FF2B5EF4-FFF2-40B4-BE49-F238E27FC236}">
                <a16:creationId xmlns:a16="http://schemas.microsoft.com/office/drawing/2014/main" id="{3AE40373-4C6F-4382-B291-4BA905E4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75" y="28470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6" name="">
            <a:extLst xmlns:a="http://schemas.openxmlformats.org/drawingml/2006/main">
              <a:ext uri="{FF2B5EF4-FFF2-40B4-BE49-F238E27FC236}">
                <a16:creationId xmlns:a16="http://schemas.microsoft.com/office/drawing/2014/main" id="{A73A6989-DDE3-416B-BF51-F59DD5D1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175" y="283940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Compare specific occupations</a:t>
            </a:r>
          </a:p>
        </p:txBody>
      </p:sp>
      <p:sp>
        <p:nvSpPr>
          <p:cNvPr id="527" name="">
            <a:extLst xmlns:a="http://schemas.openxmlformats.org/drawingml/2006/main">
              <a:ext uri="{FF2B5EF4-FFF2-40B4-BE49-F238E27FC236}">
                <a16:creationId xmlns:a16="http://schemas.microsoft.com/office/drawing/2014/main" id="{24487206-A96A-4559-A6C2-313FF1D2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75" y="29384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8" name="">
            <a:extLst xmlns:a="http://schemas.openxmlformats.org/drawingml/2006/main">
              <a:ext uri="{FF2B5EF4-FFF2-40B4-BE49-F238E27FC236}">
                <a16:creationId xmlns:a16="http://schemas.microsoft.com/office/drawing/2014/main" id="{D28DD0DA-293C-4EAA-8AB1-F8729B61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175" y="293084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Survey actual AI tool use</a:t>
            </a:r>
          </a:p>
        </p:txBody>
      </p:sp>
      <p:sp>
        <p:nvSpPr>
          <p:cNvPr id="529" name="">
            <a:extLst xmlns:a="http://schemas.openxmlformats.org/drawingml/2006/main">
              <a:ext uri="{FF2B5EF4-FFF2-40B4-BE49-F238E27FC236}">
                <a16:creationId xmlns:a16="http://schemas.microsoft.com/office/drawing/2014/main" id="{4CB617C8-BCE7-428D-8735-46176945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7575" y="30299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0" name="">
            <a:extLst xmlns:a="http://schemas.openxmlformats.org/drawingml/2006/main">
              <a:ext uri="{FF2B5EF4-FFF2-40B4-BE49-F238E27FC236}">
                <a16:creationId xmlns:a16="http://schemas.microsoft.com/office/drawing/2014/main" id="{0C1E9C87-A128-4111-A6C1-58439454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6175" y="30222825"/>
            <a:ext cx="2438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Estimate within-major AI premiums</a:t>
            </a:r>
          </a:p>
        </p:txBody>
      </p:sp>
      <p:sp>
        <p:nvSpPr>
          <p:cNvPr id="531" name="">
            <a:extLst xmlns:a="http://schemas.openxmlformats.org/drawingml/2006/main">
              <a:ext uri="{FF2B5EF4-FFF2-40B4-BE49-F238E27FC236}">
                <a16:creationId xmlns:a16="http://schemas.microsoft.com/office/drawing/2014/main" id="{21372805-DA91-4FFE-9B3C-6793598E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26384250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2" name="">
            <a:extLst xmlns:a="http://schemas.openxmlformats.org/drawingml/2006/main">
              <a:ext uri="{FF2B5EF4-FFF2-40B4-BE49-F238E27FC236}">
                <a16:creationId xmlns:a16="http://schemas.microsoft.com/office/drawing/2014/main" id="{2B1F2B2B-5D73-4886-9830-B976295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265938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9C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3" name="">
            <a:extLst xmlns:a="http://schemas.openxmlformats.org/drawingml/2006/main">
              <a:ext uri="{FF2B5EF4-FFF2-40B4-BE49-F238E27FC236}">
                <a16:creationId xmlns:a16="http://schemas.microsoft.com/office/drawing/2014/main" id="{690E71DD-186C-44BF-99CE-D9A4300E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75" y="26574750"/>
            <a:ext cx="840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DATA AND LITERATURE SOURCES</a:t>
            </a:r>
          </a:p>
        </p:txBody>
      </p:sp>
      <p:sp>
        <p:nvSpPr>
          <p:cNvPr id="534" name="">
            <a:extLst xmlns:a="http://schemas.openxmlformats.org/drawingml/2006/main">
              <a:ext uri="{FF2B5EF4-FFF2-40B4-BE49-F238E27FC236}">
                <a16:creationId xmlns:a16="http://schemas.microsoft.com/office/drawing/2014/main" id="{BBE69553-10A0-4C7E-98F1-457FD725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26974800"/>
            <a:ext cx="8763000" cy="3190875"/>
          </a:xfrm>
          <a:prstGeom xmlns:a="http://schemas.openxmlformats.org/drawingml/2006/main" prst="roundRect">
            <a:avLst>
              <a:gd name="adj" fmla="val 477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14288">
            <a:solidFill>
              <a:srgbClr val="C9DDEA"/>
            </a:solidFill>
            <a:prstDash val="solid"/>
          </a:ln>
        </p:spPr>
      </p:sp>
      <p:sp>
        <p:nvSpPr>
          <p:cNvPr id="535" name="">
            <a:extLst xmlns:a="http://schemas.openxmlformats.org/drawingml/2006/main">
              <a:ext uri="{FF2B5EF4-FFF2-40B4-BE49-F238E27FC236}">
                <a16:creationId xmlns:a16="http://schemas.microsoft.com/office/drawing/2014/main" id="{DFC40FC5-E422-4EF0-9C38-44EA54AC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25" y="27146250"/>
            <a:ext cx="838200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NBS: urban wage statistics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MOE: annual graduate counts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CGSS: education, occupation, income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CFPS: family, education, employment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CHFS: income, assets, education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MyCOS: wages by undergraduate major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Job-posting studies: AI demand and wages</a:t>
            </a:r>
          </a:p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163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Stanford AI Index: global labor context</a:t>
            </a:r>
          </a:p>
        </p:txBody>
      </p:sp>
      <p:sp>
        <p:nvSpPr>
          <p:cNvPr id="536" name="">
            <a:extLst xmlns:a="http://schemas.openxmlformats.org/drawingml/2006/main">
              <a:ext uri="{FF2B5EF4-FFF2-40B4-BE49-F238E27FC236}">
                <a16:creationId xmlns:a16="http://schemas.microsoft.com/office/drawing/2014/main" id="{694903E4-68DB-4EC7-BA49-DE1B1F62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3030855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57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1DFB92E7-957E-4BE1-9590-7D7E0441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75" y="30289500"/>
            <a:ext cx="840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3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SHORT APA REFERENCES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8B114A95-8F81-4904-9602-68BC5BF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30670500"/>
            <a:ext cx="876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8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defRPr>
            </a:pPr>
            <a:r>
              <a:rPr sz="1088" b="0">
                <a:solidFill>
                  <a:srgbClr val="222222"/>
                </a:solidFill>
                <a:latin typeface="Trebuchet MS"/>
                <a:ea typeface="Trebuchet MS"/>
                <a:cs typeface="Trebuchet MS"/>
              </a:rPr>
              <a:t>NBS China (2025); Ministry of Education (2024); MyCOS Research Institute (2025); Zhang et al. (2023); Stanford HAI (2024); CGSS; CFPS; CHFS.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32067E3-09CA-4DF1-B529-5F2F2F7B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25" y="31765875"/>
            <a:ext cx="876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0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defRPr>
            </a:pPr>
            <a:r>
              <a:rPr sz="1050" b="1">
                <a:solidFill>
                  <a:srgbClr val="173B6C"/>
                </a:solidFill>
                <a:latin typeface="Trebuchet MS"/>
                <a:ea typeface="Trebuchet MS"/>
                <a:cs typeface="Trebuchet MS"/>
              </a:rPr>
              <a:t>Full links and verification notes: poster_data_sources.md</a:t>
            </a:r>
          </a:p>
        </p:txBody>
      </p:sp>
    </p:spTree>
    <p:extLst>
      <p:ext uri="{BB962C8B-B14F-4D97-AF65-F5344CB8AC3E}">
        <p14:creationId xmlns:p14="http://schemas.microsoft.com/office/powerpoint/2010/main" val="213835353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2026-06-09T08:00:17.5180000Z</dcterms:created>
  <dcterms:modified xsi:type="dcterms:W3CDTF">2026-06-09T08:00:17.5180000Z</dcterms:modified>
</coreProperties>
</file>