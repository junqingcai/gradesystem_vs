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7b6576c53648f4" /><Relationship Type="http://schemas.openxmlformats.org/officeDocument/2006/relationships/extended-properties" Target="/docProps/app.xml" Id="Ra2475f9156e14eb2" /><Relationship Type="http://schemas.openxmlformats.org/officeDocument/2006/relationships/officeDocument" Target="/ppt/presentation.xml" Id="R087a6b0265fd49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4632fb1974eed"/>
  </p:sldMasterIdLst>
  <p:notesMasterIdLst>
    <p:notesMasterId xmlns:r="http://schemas.openxmlformats.org/officeDocument/2006/relationships" r:id="R0c134a696b7e4982"/>
  </p:notesMasterIdLst>
  <p:sldIdLst>
    <p:sldId xmlns:r="http://schemas.openxmlformats.org/officeDocument/2006/relationships" id="256" r:id="Rf7439a48be564c17"/>
  </p:sldIdLst>
  <p:sldSz cx="30959425" cy="3527996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b649727ed24670" /><Relationship Type="http://schemas.openxmlformats.org/officeDocument/2006/relationships/slideMaster" Target="/ppt/slideMasters/slideMaster1.xml" Id="Rda04632fb1974eed" /><Relationship Type="http://schemas.openxmlformats.org/officeDocument/2006/relationships/notesMaster" Target="/ppt/notesMasters/notesMaster1.xml" Id="R0c134a696b7e4982" /><Relationship Type="http://schemas.openxmlformats.org/officeDocument/2006/relationships/presProps" Target="/ppt/presProps.xml" Id="R4ab286bbc04d429b" /><Relationship Type="http://schemas.openxmlformats.org/officeDocument/2006/relationships/viewProps" Target="/ppt/viewProps.xml" Id="Ra0d8f3ea845e48a9" /><Relationship Type="http://schemas.openxmlformats.org/officeDocument/2006/relationships/tableStyles" Target="/ppt/tableStyles.xml" Id="R078fa92204914668" /><Relationship Type="http://schemas.openxmlformats.org/officeDocument/2006/relationships/slide" Target="/ppt/slides/slide1.xml" Id="Rf7439a48be564c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8d29b429c643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a12846a1f4873" /><Relationship Type="http://schemas.openxmlformats.org/officeDocument/2006/relationships/notesMaster" Target="/ppt/notesMasters/notesMaster1.xml" Id="R816efc0febb141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a2b3992af41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1759c71a541c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3e02536ea4e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83eeb883f43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52d39d09c48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54038644b437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bebb5df41b4f1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444ef0ab0144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b7bef1a19447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df3e9e560940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08820bcd143c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560FFEF-3968-4851-B0B8-F691A27E7C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322000" y="5773835"/>
            <a:ext cx="26315998" cy="12282667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031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31865B5-9012-42C0-A072-BA9BB3A775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70000" y="18530170"/>
            <a:ext cx="23219998" cy="8517831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125"/>
            </a:lvl1pPr>
            <a:lvl2pPr marL="1548130" indent="0" algn="ctr">
              <a:buNone/>
              <a:defRPr sz="6770"/>
            </a:lvl2pPr>
            <a:lvl3pPr marL="3096260" indent="0" algn="ctr">
              <a:buNone/>
              <a:defRPr sz="6095"/>
            </a:lvl3pPr>
            <a:lvl4pPr marL="4643755" indent="0" algn="ctr">
              <a:buNone/>
              <a:defRPr sz="5415"/>
            </a:lvl4pPr>
            <a:lvl5pPr marL="6191885" indent="0" algn="ctr">
              <a:buNone/>
              <a:defRPr sz="5415"/>
            </a:lvl5pPr>
            <a:lvl6pPr marL="7740015" indent="0" algn="ctr">
              <a:buNone/>
              <a:defRPr sz="5415"/>
            </a:lvl6pPr>
            <a:lvl7pPr marL="9287510" indent="0" algn="ctr">
              <a:buNone/>
              <a:defRPr sz="5415"/>
            </a:lvl7pPr>
            <a:lvl8pPr marL="10835640" indent="0" algn="ctr">
              <a:buNone/>
              <a:defRPr sz="5415"/>
            </a:lvl8pPr>
            <a:lvl9pPr marL="12383770" indent="0" algn="ctr">
              <a:buNone/>
              <a:defRPr sz="5415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D847817-F44A-4B27-A24D-DCE3CCD7A2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1AFD11-F0F4-47BB-A497-DE0FA02FAA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86DEC6-BBA2-47EA-A05D-9438F916B8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31BEE0-2543-466E-AC64-38CC6319C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636B9E-AD46-4C45-B445-E97E391A59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E6B105-A2FF-44EC-BB22-5E780F1E99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D2B315-357E-4123-B80B-0371EE10D8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1236DCE-474E-4647-8E84-C2A855418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7294FB-9341-43CC-9DBF-8E8BCF8212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12377" y="8795510"/>
            <a:ext cx="26702998" cy="14675498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031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6B1965-4C3E-410B-B5BD-CBB47BDFBF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12377" y="23609843"/>
            <a:ext cx="26702998" cy="77174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8125">
                <a:solidFill>
                  <a:schemeClr val="tx1"/>
                </a:solidFill>
              </a:defRPr>
            </a:lvl1pPr>
            <a:lvl2pPr marL="1548130" indent="0">
              <a:buNone/>
              <a:defRPr sz="6770">
                <a:solidFill>
                  <a:schemeClr val="tx1">
                    <a:tint val="75000"/>
                  </a:schemeClr>
                </a:solidFill>
              </a:defRPr>
            </a:lvl2pPr>
            <a:lvl3pPr marL="3096260" indent="0">
              <a:buNone/>
              <a:defRPr sz="6095">
                <a:solidFill>
                  <a:schemeClr val="tx1">
                    <a:tint val="75000"/>
                  </a:schemeClr>
                </a:solidFill>
              </a:defRPr>
            </a:lvl3pPr>
            <a:lvl4pPr marL="464375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4pPr>
            <a:lvl5pPr marL="619188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5pPr>
            <a:lvl6pPr marL="7740015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6pPr>
            <a:lvl7pPr marL="928751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7pPr>
            <a:lvl8pPr marL="1083564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8pPr>
            <a:lvl9pPr marL="12383770" indent="0">
              <a:buNone/>
              <a:defRPr sz="5415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A4B4BF-F841-4C2B-AED4-3B71363FFC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098A55-87AA-4E69-88CF-9E5E4DEC9C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4AAC9F-5AC9-48DB-8935-5253FACEF8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FF785D-C219-4B85-8BBA-6FD24A7D7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D5E04C6-08AF-4685-933F-9DBF5D98E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128500" y="9391668"/>
            <a:ext cx="13157999" cy="2238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EF58891-1C9A-43DD-9FC3-7610C00EEF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5673499" y="9391668"/>
            <a:ext cx="13157999" cy="2238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E62DF4-A010-4D97-B609-441245D1FD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9F349F-1586-486F-8D36-22ED13093E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287784-DE36-4EC8-A820-EA8D940FD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9A88E0-528F-4FDF-84B7-72B13A4C4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2533" y="1878341"/>
            <a:ext cx="26702998" cy="68191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30E58F7-5787-4F48-8D03-2422FC5AB3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32537" y="8648503"/>
            <a:ext cx="13097528" cy="42384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125" b="1"/>
            </a:lvl1pPr>
            <a:lvl2pPr marL="1548130" indent="0">
              <a:buNone/>
              <a:defRPr sz="6770" b="1"/>
            </a:lvl2pPr>
            <a:lvl3pPr marL="3096260" indent="0">
              <a:buNone/>
              <a:defRPr sz="6095" b="1"/>
            </a:lvl3pPr>
            <a:lvl4pPr marL="4643755" indent="0">
              <a:buNone/>
              <a:defRPr sz="5415" b="1"/>
            </a:lvl4pPr>
            <a:lvl5pPr marL="6191885" indent="0">
              <a:buNone/>
              <a:defRPr sz="5415" b="1"/>
            </a:lvl5pPr>
            <a:lvl6pPr marL="7740015" indent="0">
              <a:buNone/>
              <a:defRPr sz="5415" b="1"/>
            </a:lvl6pPr>
            <a:lvl7pPr marL="9287510" indent="0">
              <a:buNone/>
              <a:defRPr sz="5415" b="1"/>
            </a:lvl7pPr>
            <a:lvl8pPr marL="10835640" indent="0">
              <a:buNone/>
              <a:defRPr sz="5415" b="1"/>
            </a:lvl8pPr>
            <a:lvl9pPr marL="12383770" indent="0">
              <a:buNone/>
              <a:defRPr sz="5415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8FBDF1-63C2-4219-A93D-1A227D9340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132537" y="12887001"/>
            <a:ext cx="13097528" cy="1895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9170386-EEF9-4CDF-A3FF-E163BA7C13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5673502" y="8648503"/>
            <a:ext cx="13162032" cy="42384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8125" b="1"/>
            </a:lvl1pPr>
            <a:lvl2pPr marL="1548130" indent="0">
              <a:buNone/>
              <a:defRPr sz="6770" b="1"/>
            </a:lvl2pPr>
            <a:lvl3pPr marL="3096260" indent="0">
              <a:buNone/>
              <a:defRPr sz="6095" b="1"/>
            </a:lvl3pPr>
            <a:lvl4pPr marL="4643755" indent="0">
              <a:buNone/>
              <a:defRPr sz="5415" b="1"/>
            </a:lvl4pPr>
            <a:lvl5pPr marL="6191885" indent="0">
              <a:buNone/>
              <a:defRPr sz="5415" b="1"/>
            </a:lvl5pPr>
            <a:lvl6pPr marL="7740015" indent="0">
              <a:buNone/>
              <a:defRPr sz="5415" b="1"/>
            </a:lvl6pPr>
            <a:lvl7pPr marL="9287510" indent="0">
              <a:buNone/>
              <a:defRPr sz="5415" b="1"/>
            </a:lvl7pPr>
            <a:lvl8pPr marL="10835640" indent="0">
              <a:buNone/>
              <a:defRPr sz="5415" b="1"/>
            </a:lvl8pPr>
            <a:lvl9pPr marL="12383770" indent="0">
              <a:buNone/>
              <a:defRPr sz="5415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D8BE651-05EB-4716-A43A-828A675086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5673502" y="12887001"/>
            <a:ext cx="13162032" cy="18954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D4E5EB8-5E93-4F0B-8A36-C50396413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595CACE-7007-4FA6-B452-1A3261509F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058EBBB-3E36-4F0B-BF08-5DE8B11C9A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C35348-16B4-4357-AEB1-817F2BCA5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F7DE03E-F89F-49DF-AA14-C3DD2691E9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24BCDDA-9B9B-435C-996D-720D523676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C5FCC28-BD80-40CC-BDA9-3C4AA19D80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B227BFC-73ED-43F7-B396-0DDF9FCBF2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665C937-481A-4B91-8C0C-911AB6BFD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1F72709-AD7D-4341-9326-F816898967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A0C0C-F900-45E9-A207-066A83C9AB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2535" y="2352000"/>
            <a:ext cx="9985406" cy="82320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83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33A7FD8-EE8F-4EE6-AB31-F488DACB84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3162032" y="5079674"/>
            <a:ext cx="15673499" cy="250716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0835"/>
            </a:lvl1pPr>
            <a:lvl2pPr>
              <a:buNone/>
              <a:defRPr sz="9480"/>
            </a:lvl2pPr>
            <a:lvl3pPr>
              <a:buNone/>
              <a:defRPr sz="8125"/>
            </a:lvl3pPr>
            <a:lvl4pPr>
              <a:buNone/>
              <a:defRPr sz="6770"/>
            </a:lvl4pPr>
            <a:lvl5pPr>
              <a:buNone/>
              <a:defRPr sz="6770"/>
            </a:lvl5pPr>
            <a:lvl6pPr>
              <a:buNone/>
              <a:defRPr sz="6770"/>
            </a:lvl6pPr>
            <a:lvl7pPr>
              <a:buNone/>
              <a:defRPr sz="6770"/>
            </a:lvl7pPr>
            <a:lvl8pPr>
              <a:buNone/>
              <a:defRPr sz="6770"/>
            </a:lvl8pPr>
            <a:lvl9pPr>
              <a:buNone/>
              <a:defRPr sz="677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682CBD5-199A-4EEE-A34B-16CEB5F0A8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132535" y="10584001"/>
            <a:ext cx="9985406" cy="1960816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15"/>
            </a:lvl1pPr>
            <a:lvl2pPr marL="1548130" indent="0">
              <a:buNone/>
              <a:defRPr sz="4740"/>
            </a:lvl2pPr>
            <a:lvl3pPr marL="3096260" indent="0">
              <a:buNone/>
              <a:defRPr sz="4065"/>
            </a:lvl3pPr>
            <a:lvl4pPr marL="4643755" indent="0">
              <a:buNone/>
              <a:defRPr sz="3385"/>
            </a:lvl4pPr>
            <a:lvl5pPr marL="6191885" indent="0">
              <a:buNone/>
              <a:defRPr sz="3385"/>
            </a:lvl5pPr>
            <a:lvl6pPr marL="7740015" indent="0">
              <a:buNone/>
              <a:defRPr sz="3385"/>
            </a:lvl6pPr>
            <a:lvl7pPr marL="9287510" indent="0">
              <a:buNone/>
              <a:defRPr sz="3385"/>
            </a:lvl7pPr>
            <a:lvl8pPr marL="10835640" indent="0">
              <a:buNone/>
              <a:defRPr sz="3385"/>
            </a:lvl8pPr>
            <a:lvl9pPr marL="12383770" indent="0">
              <a:buNone/>
              <a:defRPr sz="3385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528A21-7442-4D63-AA20-C99C5C830D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3963F7-008C-4707-A021-CA28E6051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3D3705-2238-43B8-93BF-6E657050EB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7CCC0B-BE84-4E89-8B25-51089538A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2535" y="2352000"/>
            <a:ext cx="9985406" cy="82320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0835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180EE8F-3D59-4EE9-A230-15211268F0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3162032" y="5079674"/>
            <a:ext cx="15673499" cy="25071666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0835"/>
            </a:lvl1pPr>
            <a:lvl2pPr marL="1548130" indent="0">
              <a:buNone/>
              <a:defRPr sz="9480"/>
            </a:lvl2pPr>
            <a:lvl3pPr marL="3096260" indent="0">
              <a:buNone/>
              <a:defRPr sz="8125"/>
            </a:lvl3pPr>
            <a:lvl4pPr marL="4643755" indent="0">
              <a:buNone/>
              <a:defRPr sz="6770"/>
            </a:lvl4pPr>
            <a:lvl5pPr marL="6191885" indent="0">
              <a:buNone/>
              <a:defRPr sz="6770"/>
            </a:lvl5pPr>
            <a:lvl6pPr marL="7740015" indent="0">
              <a:buNone/>
              <a:defRPr sz="6770"/>
            </a:lvl6pPr>
            <a:lvl7pPr marL="9287510" indent="0">
              <a:buNone/>
              <a:defRPr sz="6770"/>
            </a:lvl7pPr>
            <a:lvl8pPr marL="10835640" indent="0">
              <a:buNone/>
              <a:defRPr sz="6770"/>
            </a:lvl8pPr>
            <a:lvl9pPr marL="12383770" indent="0">
              <a:buNone/>
              <a:defRPr sz="677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9CB6DFF-9CB8-4145-850D-50228AF9E4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132535" y="10584001"/>
            <a:ext cx="9985406" cy="1960816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415"/>
            </a:lvl1pPr>
            <a:lvl2pPr marL="1548130" indent="0">
              <a:buNone/>
              <a:defRPr sz="4740"/>
            </a:lvl2pPr>
            <a:lvl3pPr marL="3096260" indent="0">
              <a:buNone/>
              <a:defRPr sz="4065"/>
            </a:lvl3pPr>
            <a:lvl4pPr marL="4643755" indent="0">
              <a:buNone/>
              <a:defRPr sz="3385"/>
            </a:lvl4pPr>
            <a:lvl5pPr marL="6191885" indent="0">
              <a:buNone/>
              <a:defRPr sz="3385"/>
            </a:lvl5pPr>
            <a:lvl6pPr marL="7740015" indent="0">
              <a:buNone/>
              <a:defRPr sz="3385"/>
            </a:lvl6pPr>
            <a:lvl7pPr marL="9287510" indent="0">
              <a:buNone/>
              <a:defRPr sz="3385"/>
            </a:lvl7pPr>
            <a:lvl8pPr marL="10835640" indent="0">
              <a:buNone/>
              <a:defRPr sz="3385"/>
            </a:lvl8pPr>
            <a:lvl9pPr marL="12383770" indent="0">
              <a:buNone/>
              <a:defRPr sz="3385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40832D7-5CBE-4F6B-8B98-EB826D3D28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5A5044-9CAA-4FB3-AB94-10B57D2843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BA06E08-CB00-4852-99BB-6A90054E5F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4404CF-2B70-43F0-927E-96157FBDF2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235AE4-463E-48BF-8777-E1992AF94A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BD100D-5E49-4492-9B60-354E9A457E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36297D6-76F1-4662-A5DE-B1F5920377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69EE0A-9D23-4D43-AD53-42B0FF5CB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F8FA482-D739-4B45-B03E-A8D09DD51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2155751" y="1878334"/>
            <a:ext cx="6675750" cy="2989816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B926D0A-C579-4452-85E2-6F5B753E45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28502" y="1878334"/>
            <a:ext cx="19640249" cy="29898169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60BE84-B98F-442B-8256-A89371070A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213E69-B3C1-406A-9339-5B7F504340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228B6E-0C47-4737-8BF9-7749C8968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c09cdd2c54d0e" /><Relationship Type="http://schemas.openxmlformats.org/officeDocument/2006/relationships/slideLayout" Target="/ppt/slideLayouts/slideLayout1.xml" Id="R484651edf82f4fee" /><Relationship Type="http://schemas.openxmlformats.org/officeDocument/2006/relationships/slideLayout" Target="/ppt/slideLayouts/slideLayout2.xml" Id="R3a64184e05164d7e" /><Relationship Type="http://schemas.openxmlformats.org/officeDocument/2006/relationships/slideLayout" Target="/ppt/slideLayouts/slideLayout3.xml" Id="R73f4c159e49c4c8b" /><Relationship Type="http://schemas.openxmlformats.org/officeDocument/2006/relationships/slideLayout" Target="/ppt/slideLayouts/slideLayout4.xml" Id="R19939194702c4460" /><Relationship Type="http://schemas.openxmlformats.org/officeDocument/2006/relationships/slideLayout" Target="/ppt/slideLayouts/slideLayout5.xml" Id="R7684adff78f6450f" /><Relationship Type="http://schemas.openxmlformats.org/officeDocument/2006/relationships/slideLayout" Target="/ppt/slideLayouts/slideLayout6.xml" Id="Rcf33a4cdc36e4d53" /><Relationship Type="http://schemas.openxmlformats.org/officeDocument/2006/relationships/slideLayout" Target="/ppt/slideLayouts/slideLayout7.xml" Id="Rb1d70538293e420d" /><Relationship Type="http://schemas.openxmlformats.org/officeDocument/2006/relationships/slideLayout" Target="/ppt/slideLayouts/slideLayout8.xml" Id="Rb8e5b264cf8b4b2d" /><Relationship Type="http://schemas.openxmlformats.org/officeDocument/2006/relationships/slideLayout" Target="/ppt/slideLayouts/slideLayout9.xml" Id="R2f0371f8ab76470b" /><Relationship Type="http://schemas.openxmlformats.org/officeDocument/2006/relationships/slideLayout" Target="/ppt/slideLayouts/slideLayout10.xml" Id="R062011780ad84bf2" /><Relationship Type="http://schemas.openxmlformats.org/officeDocument/2006/relationships/slideLayout" Target="/ppt/slideLayouts/slideLayout11.xml" Id="R50239e08a646417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FF6E16-01CF-4844-9AAB-584FD16408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28500" y="1878341"/>
            <a:ext cx="26702998" cy="68191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F5B010-A27B-4372-877C-DE709F442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128500" y="9391668"/>
            <a:ext cx="26702998" cy="223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F6A31C-2445-465A-9903-85AD09E263F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128500" y="32699341"/>
            <a:ext cx="6966000" cy="187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D0C497-E600-4EE8-9C35-D08DF5044C1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0255499" y="32699341"/>
            <a:ext cx="10448999" cy="187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6C77D4-29CE-45AD-8669-6B5E8D74AB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21865499" y="32699341"/>
            <a:ext cx="6966000" cy="187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406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4651edf82f4fee"/>
    <p:sldLayoutId xmlns:r="http://schemas.openxmlformats.org/officeDocument/2006/relationships" id="2147483650" r:id="R3a64184e05164d7e"/>
    <p:sldLayoutId xmlns:r="http://schemas.openxmlformats.org/officeDocument/2006/relationships" id="2147483651" r:id="R73f4c159e49c4c8b"/>
    <p:sldLayoutId xmlns:r="http://schemas.openxmlformats.org/officeDocument/2006/relationships" id="2147483652" r:id="R19939194702c4460"/>
    <p:sldLayoutId xmlns:r="http://schemas.openxmlformats.org/officeDocument/2006/relationships" id="2147483653" r:id="R7684adff78f6450f"/>
    <p:sldLayoutId xmlns:r="http://schemas.openxmlformats.org/officeDocument/2006/relationships" id="2147483654" r:id="Rcf33a4cdc36e4d53"/>
    <p:sldLayoutId xmlns:r="http://schemas.openxmlformats.org/officeDocument/2006/relationships" id="2147483655" r:id="Rb1d70538293e420d"/>
    <p:sldLayoutId xmlns:r="http://schemas.openxmlformats.org/officeDocument/2006/relationships" id="2147483656" r:id="Rb8e5b264cf8b4b2d"/>
    <p:sldLayoutId xmlns:r="http://schemas.openxmlformats.org/officeDocument/2006/relationships" id="2147483657" r:id="R2f0371f8ab76470b"/>
    <p:sldLayoutId xmlns:r="http://schemas.openxmlformats.org/officeDocument/2006/relationships" id="2147483658" r:id="R062011780ad84bf2"/>
    <p:sldLayoutId xmlns:r="http://schemas.openxmlformats.org/officeDocument/2006/relationships" id="2147483659" r:id="R50239e08a64641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14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774065" indent="-774065" algn="l">
        <a:lnSpc>
          <a:spcPct val="90000"/>
        </a:lnSpc>
        <a:spcBef>
          <a:spcPts val="3385"/>
        </a:spcBef>
        <a:buChar char="•"/>
        <a:defRPr sz="948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322195" indent="-774065" algn="l">
        <a:lnSpc>
          <a:spcPct val="90000"/>
        </a:lnSpc>
        <a:spcBef>
          <a:spcPts val="0"/>
        </a:spcBef>
        <a:buChar char="•"/>
        <a:defRPr sz="812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869690" indent="-774065" algn="l">
        <a:lnSpc>
          <a:spcPct val="90000"/>
        </a:lnSpc>
        <a:spcBef>
          <a:spcPts val="0"/>
        </a:spcBef>
        <a:buChar char="•"/>
        <a:defRPr sz="677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5417820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965950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8514080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061575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609705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3157835" indent="-774065" algn="l">
        <a:lnSpc>
          <a:spcPct val="90000"/>
        </a:lnSpc>
        <a:spcBef>
          <a:spcPts val="0"/>
        </a:spcBef>
        <a:buChar char="•"/>
        <a:defRPr sz="609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54813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09626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4643755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6191885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7740015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928751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083564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2383770" algn="l">
        <a:buNone/>
        <a:defRPr sz="609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4b4577c4443c1" /><Relationship Type="http://schemas.openxmlformats.org/officeDocument/2006/relationships/image" Target="/ppt/media/image.jpeg" Id="R17170da1509241e6" /><Relationship Type="http://schemas.openxmlformats.org/officeDocument/2006/relationships/notesSlide" Target="/ppt/notesSlides/notesSlide1.xml" Id="R991efe5b09074c06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chemeClr val="bg1"/>
            </a:gs>
            <a:gs pos="64000">
              <a:srgbClr val="002776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8C91930-6B85-4BBF-8A33-87D3EEF9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45" y="332105"/>
            <a:ext cx="30387290" cy="2691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3F092E0-C9A5-4E27-9D10-BAD6F5E7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" y="3343910"/>
            <a:ext cx="7740015" cy="15152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DC5C1158-ABE7-4810-A0F8-882B7ED9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405" y="3343910"/>
            <a:ext cx="22362795" cy="8359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153D5D61-CE90-4209-B59D-840B4944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405" y="12001500"/>
            <a:ext cx="22362795" cy="1208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48C9C3C3-5497-4CB0-979B-709A9A6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" y="18819495"/>
            <a:ext cx="7740015" cy="1606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D889A60D-6B7B-4154-A8BA-60DBD8D9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0405" y="24389080"/>
            <a:ext cx="7740015" cy="10500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7" name="Rectangle 126">
            <a:extLst xmlns:a="http://schemas.openxmlformats.org/drawingml/2006/main">
              <a:ext uri="{FF2B5EF4-FFF2-40B4-BE49-F238E27FC236}">
                <a16:creationId xmlns:a16="http://schemas.microsoft.com/office/drawing/2014/main" id="{74B6133C-8F25-462C-A39D-55F1B43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94745" y="24386540"/>
            <a:ext cx="6689725" cy="10500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3F78FF5-E061-4F94-A0D2-DFA2E358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2210" y="24383365"/>
            <a:ext cx="7231380" cy="10500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9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70da1509241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6170" y="762000"/>
            <a:ext cx="1678305" cy="2104390"/>
          </a:xfrm>
          <a:prstGeom xmlns:a="http://schemas.openxmlformats.org/drawingml/2006/main" prst="rect">
            <a:avLst/>
          </a:prstGeom>
        </p:spPr>
      </p:pic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2D9FA24-2ACC-4115-9CA5-913699E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0075"/>
            <a:ext cx="23241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GENERATIVE AI AND THE STEM-SOCIAL SCIENCE</a:t>
            </a:r>
          </a:p>
          <a:p xmlns:a="http://schemas.openxmlformats.org/drawingml/2006/main">
            <a:pPr algn="ctr">
              <a:defRPr sz="36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WAGE GAP IN CHINA'S LABOR MARKET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8CB88D9-6FB6-4FB9-89E7-B6C15CB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171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Has generative AI widened or narrowed the wage gap between STEM and social science graduates in China?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A523AFD-882F-4309-99A2-DA17F334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324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Presented by Student A, Student B, Student C, Student D   |   Instructor: Zhu Jingyi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14A0B47-1A32-4C33-B981-6976D243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81275"/>
            <a:ext cx="2324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Poster Presentation, English for International Academic Communication   |   June 21, 2026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6AD6BAC-A115-4BA5-A554-03BB556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0" y="87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F968CD2-B91E-4B21-8DAF-AA3737FA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850" y="609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26E10BE-1CCB-4133-9A4B-A000060C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7800" y="104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F35FE443-F8CF-42BC-BF0B-21F54F71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8675" y="9429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A9EB328-F52E-453B-B477-04F7EAF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2525" y="742950"/>
            <a:ext cx="257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section-01-number">
            <a:extLst xmlns:a="http://schemas.openxmlformats.org/drawingml/2006/main">
              <a:ext uri="{FF2B5EF4-FFF2-40B4-BE49-F238E27FC236}">
                <a16:creationId xmlns:a16="http://schemas.microsoft.com/office/drawing/2014/main" id="{E5448FED-9EFB-47A9-8898-BD7E1F4F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F7DF4A2-A707-4455-BD90-605BE1B7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1D835C7-EC9A-4F27-AF35-A849E95B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686175"/>
            <a:ext cx="634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EED0E6C-130D-4736-B43D-9998A3C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706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125C193-5B8C-46E3-B0D4-494591A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70675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Generative AI entered education and workplaces rapidly after 2022.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China expected 12.22 million college graduates in 2025.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STEM skills traditionally receive higher wage returns.</a:t>
            </a:r>
          </a:p>
          <a:p xmlns:a="http://schemas.openxmlformats.org/drawingml/2006/main">
            <a:pPr algn="l">
              <a:defRPr sz="15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Social science work is increasingly AI-assisted.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143B18B-C453-422F-8FDF-BE9817C1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029450"/>
            <a:ext cx="7067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3272582-41AE-44A2-B837-344E7CA5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199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THIS QUESTION MATTERS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1226621-A5F9-4AAE-ADA6-60E7BD0F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39050"/>
            <a:ext cx="6762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Graduate labor-market competition is intensifying.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AI may change the value of majors and workplace skills.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wage gap reflects broader skill-based inequality.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The answer helps students prepare for AI-shaped work.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2F3FA42-4149-4BBD-B165-DBD7E3C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315575"/>
            <a:ext cx="706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KEY CONCEPTS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51E495-F8A9-45DF-A43A-FD68D985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744200"/>
            <a:ext cx="706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11A0747-E395-45BC-B572-C444DD42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915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10815F1-28CC-40D8-A740-D690DAC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915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DC61EDC-BD15-4745-90D4-E34859CA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8775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STEM GRADUATES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49E2DF6-570B-4BC2-BDB4-B3497A2B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239500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Science, technology, engineering, and mathematics majors.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0D7C6DF-2F18-48A1-BD3E-6C4FEFFC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0"/>
            <a:ext cx="70675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FE00486-FEF9-476C-B507-6920AA3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363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60C271D-CC57-4A40-9C9A-91A2A1D7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363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2571E436-40BA-4603-A547-C2CB382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3253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SOCIAL SCIENCE GRADUATES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9E8CC88-9C69-4AC5-97DF-98C7F562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2687300"/>
            <a:ext cx="6096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Economics, management, law, sociology, communication, public administration, and related fields.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563E8E2-2111-46C5-8387-11A77694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954125"/>
            <a:ext cx="706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EBFE2985-0F78-4BE0-858A-6C3EBBC3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125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3A48FD87-1622-4E4A-B37B-AA61C78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1255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9A69D06E-2C4B-4632-B771-902AC7F1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087475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WAGE DIFFERENTIAL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955A74F-3856-4460-A345-0BA8EFC8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449425"/>
            <a:ext cx="609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difference in average earnings between two graduate groups.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77A1D5E5-1D12-429F-AD16-62472130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49550"/>
            <a:ext cx="7067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14300" rIns="171450" bIns="1143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TENSION  Complement to STEM, or a general-purpose tool across majors?</a:t>
            </a:r>
          </a:p>
        </p:txBody>
      </p:sp>
      <p:sp>
        <p:nvSpPr>
          <p:cNvPr id="172" name="section-02-number">
            <a:extLst xmlns:a="http://schemas.openxmlformats.org/drawingml/2006/main">
              <a:ext uri="{FF2B5EF4-FFF2-40B4-BE49-F238E27FC236}">
                <a16:creationId xmlns:a16="http://schemas.microsoft.com/office/drawing/2014/main" id="{52AA7DDA-0A8E-435F-88E9-71D4C9F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45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EF8D9EBC-48AF-4B9F-B20A-0E90D4CF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164300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E2F2D5FA-F49C-4423-8713-00E20E4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9164300"/>
            <a:ext cx="634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Research Question(s)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8229D550-CFFC-4B8A-846F-8335C511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0"/>
            <a:ext cx="706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5CC61C7E-580D-48C4-A0F8-0D96111D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83450"/>
            <a:ext cx="7067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14300" rIns="190500" bIns="1143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Has generative AI widened or narrowed the wage gap between STEM and social science graduates in China?</a:t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0BAF70D-5526-4EFD-8B37-6B23A2A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0"/>
            <a:ext cx="70675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1. Do technology-intensive occupations offer higher wages?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2. Are STEM majors still concentrated in high-paying early-career jobs?</a:t>
            </a:r>
          </a:p>
          <a:p xmlns:a="http://schemas.openxmlformats.org/drawingml/2006/main">
            <a:pPr algn="l">
              <a:defRPr sz="14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3. Can social science graduates gain from AI-enhanced productivity?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85223B0-6606-44E8-A1E3-05B52A69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50550"/>
            <a:ext cx="706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RESEARCH LOGIC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6AFECFAE-CF06-43FB-BE8B-EA6FB774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601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GENERATIVE AI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229719C-5DDB-4DAC-BFDE-1E03088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887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37D94FAB-30E2-4C8F-AF1A-C90EDD90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507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COMPLEMENTS STEM SKILLS</a:t>
            </a:r>
          </a:p>
        </p:txBody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2828589-3486-430F-B80E-8E2A9100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4793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4A14482-91AF-4C0A-84E2-937CD255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413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SUBSTITUTES ROUTINE TASKS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D92F905A-7CCA-4861-9673-3BE1AFC3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699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C2B78EC4-2D4D-45E3-B84C-ACB7E6A6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8319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SPREADS AI LITERACY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0CB5E14-19F0-42C8-9A82-CB78A022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60575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8C85871A-4CA7-4E25-8C9B-743489A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22525"/>
            <a:ext cx="6305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CHANGES THE WAGE GAP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3A83015-2D7C-414B-A7DD-AFEE6FD6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0"/>
            <a:ext cx="706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THREE CHANNELS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0CCC18F3-93CC-47F6-A571-12E6EE98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0"/>
            <a:ext cx="706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180A87F7-3169-4950-A7DB-451431F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451300"/>
            <a:ext cx="671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SKILL COMPLEMENTARITY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A4A5EDA6-6E9D-4D72-95DF-6E93F607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746575"/>
            <a:ext cx="6715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Raises productivity for programming, data, and engineering skills.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4664B2D-1A41-40C8-9F6D-C3200646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594300"/>
            <a:ext cx="706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1FF9BEF-EA0D-4DB6-A4FD-2C0AF767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708600"/>
            <a:ext cx="671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TASK SUBSTITUTION</a:t>
            </a:r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03A3665-ABBC-46F9-AA48-7441FC34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03875"/>
            <a:ext cx="6715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Automates routine writing, analysis, coding, and administrative tasks.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A2D85E22-C570-43A1-8BAE-AEC30308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851600"/>
            <a:ext cx="70675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23D162BE-73E4-43B9-A3F9-9A0FC76A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65900"/>
            <a:ext cx="6715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SKILL DIFFUSION</a:t>
            </a:r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85396A8F-F074-4033-83F8-9C3FFD52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261175"/>
            <a:ext cx="671512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Lets non-STEM graduates perform analytical and technical tasks more efficiently.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6EC3F52D-4FB6-48CC-8A65-D818C89A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0"/>
            <a:ext cx="70675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H1  STEM premium may increase.     H2  Major-based gap may decrease.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2E272508-2411-4C6A-B476-6A12EC75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909000"/>
            <a:ext cx="70675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ANSWER  AI is more likely to reshape the gap than move it in only one direction.</a:t>
            </a:r>
          </a:p>
        </p:txBody>
      </p:sp>
      <p:sp>
        <p:nvSpPr>
          <p:cNvPr id="200" name="section-03-number">
            <a:extLst xmlns:a="http://schemas.openxmlformats.org/drawingml/2006/main">
              <a:ext uri="{FF2B5EF4-FFF2-40B4-BE49-F238E27FC236}">
                <a16:creationId xmlns:a16="http://schemas.microsoft.com/office/drawing/2014/main" id="{13CE22C2-F0BB-4C5A-90F9-004C6AA4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C6D0A1A9-B9A0-4832-B62E-BEB9353F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861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A620CF7D-F78E-4510-8682-714BEE71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86175"/>
            <a:ext cx="20945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7AF72075-1157-4D55-B7E1-3D90A28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1669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40A8970-41F9-48F3-909D-B1B5426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5295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DATA ANALYSIS DESIGN</a:t>
            </a:r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9528FE4-34AC-491C-89A7-5056727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05375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Descriptive and comparative approach, not a full causal model.</a:t>
            </a:r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967F489C-0386-447A-BBAE-974AF39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721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871970F0-D369-4627-B104-89FC825D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721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2A632A1-DFB6-4955-833C-FC4411CB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5530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Describe the technical-worker wage premium.</a:t>
            </a:r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F0E8D032-C426-4DDA-A2A8-08B9B85B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2198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61446B2-8470-4167-99C0-890937C2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7913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0353509F-CFFF-4096-8F0B-7795D1D2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7913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160D5F9-4652-457D-9EDB-AA697B7A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7722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Compare early-career wages across majors.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4EB312BB-D32B-4882-9DF2-DADCB440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4390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FB36F718-7595-4307-819C-4CE5CFBF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105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BFE6EA9-8279-4323-98AB-850A0C94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80105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A9E33DD3-D760-415F-B408-C20B7B4E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9914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Identify AI-skill demand in job postings.</a:t>
            </a:r>
          </a:p>
        </p:txBody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6FE6228-9A37-47A3-AACF-C0FA3AA5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658225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87E721FE-1628-4B7C-A7FD-8CDC0FBA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22972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2C08B42C-3741-45A1-9BBC-4799C7AF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229725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35E99C94-7D0C-4B0E-899C-7618AF6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210675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Interpret whether AI widens, narrows, or reshapes the gap.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66BE977-8C50-4BEE-A1B6-DC18DBA6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455295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VARIABLE MAP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22E28CFE-30D0-4342-B892-781BB1C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502920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F2F05524-AA19-42E0-A9FD-D79F53AF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521970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DEPENDENT VARIABLE</a:t>
            </a:r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7649A09-4AAF-43A5-9644-D262B952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5867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A76FE820-BC49-4051-BE19-38F0F2A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30575" y="6115050"/>
            <a:ext cx="222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Monthly wage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Annual wage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Advertised salary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STEM wage premium</a:t>
            </a:r>
          </a:p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35945A1F-83FD-48C5-B13F-B11DC9D2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0" y="502920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B07E283-136B-4978-B501-DED9DE89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3300" y="521970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INDEPENDENT VARIABLES</a:t>
            </a:r>
          </a:p>
        </p:txBody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66E826D-9547-4118-A60D-34A261C7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0" y="5867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BE7EDCBE-D68A-42A2-885B-8E410815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75" y="6115050"/>
            <a:ext cx="222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Major type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exposure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skill requirements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Post-2022 AI diffusion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E6EF6506-EA04-42D9-BC53-D0D3CB63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5029200"/>
            <a:ext cx="2667000" cy="4762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22926C62-5558-4726-ABA4-4D80A13C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0800" y="5219700"/>
            <a:ext cx="2438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28575" rIns="38100" bIns="2857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CONTROL FACTORS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3E57C2F1-9CD9-4009-97B1-C069061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0" y="58674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95F9AD6-AD9E-4DD1-86D3-FA99C4A5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5575" y="6115050"/>
            <a:ext cx="22288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Region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Industry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Occupation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Work experience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Education level</a:t>
            </a:r>
          </a:p>
          <a:p xmlns:a="http://schemas.openxmlformats.org/drawingml/2006/main">
            <a:pPr algn="ctr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Employer type</a:t>
            </a:r>
          </a:p>
        </p:txBody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EDE6F71D-E348-486D-BD09-FE615EC3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455295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EVIDENCE + MODEL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EA9EB16C-5BAC-43B0-87A3-51DBE991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5029200"/>
            <a:ext cx="5381625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Official statistics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Graduate employment reports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CGSS, CFPS, and CHFS</a:t>
            </a:r>
          </a:p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Online job-posting studies</a:t>
            </a:r>
          </a:p>
        </p:txBody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D9BE8B5-DD00-4AE7-BDF7-D8DE29B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7524750"/>
            <a:ext cx="5381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log(Wage) = β₀ + β₁ STEM + β₂ PostAI + β₃ STEM × PostAI + Controls + ε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60AB851D-58A3-4EF3-A9F6-CC152D5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0" y="8858250"/>
            <a:ext cx="5381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β₃ indicates whether the STEM premium changed after AI diffusion.</a:t>
            </a:r>
          </a:p>
        </p:txBody>
      </p:sp>
      <p:sp>
        <p:nvSpPr>
          <p:cNvPr id="238" name="section-04-number">
            <a:extLst xmlns:a="http://schemas.openxmlformats.org/drawingml/2006/main">
              <a:ext uri="{FF2B5EF4-FFF2-40B4-BE49-F238E27FC236}">
                <a16:creationId xmlns:a16="http://schemas.microsoft.com/office/drawing/2014/main" id="{994D2797-AAAF-4FC8-BE7B-5F6EC7AA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348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4F7D26B-A2F4-40F1-982D-16D38311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539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600BD65A-E072-4DBD-8500-6B5A4950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353925"/>
            <a:ext cx="20945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713EBB4-0141-45D5-8D44-F27F184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001625"/>
            <a:ext cx="21669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410853A-4EF6-4FE2-B155-3B66349C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192125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GRADUATE LABOR SUPPLY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39A4E2F-90E4-4A12-9674-689DABB0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0"/>
            <a:ext cx="4953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02AF57C-BAD7-4702-81C9-1BC35E7C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0"/>
            <a:ext cx="114300" cy="17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56E8F6F8-0E62-40B5-A1F0-0793DC06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906500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12.22 M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063ACB03-09F7-4296-B315-F2CC9D9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4554200"/>
            <a:ext cx="4524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graduates expected in 2025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8B02DA7-2772-487A-A0EE-0BAB6DD5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5020925"/>
            <a:ext cx="4524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A larger cohort raises competition for entry-level work.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313FF1CB-51CC-4ECD-9DCD-47EA6E8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525750"/>
            <a:ext cx="4953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A54FBEA0-0BF8-4A56-892A-15F1BC2F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525750"/>
            <a:ext cx="8572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CD8F1F57-9B0A-4F8F-BAD7-D35DACB5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01950"/>
            <a:ext cx="461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2494B5CC-AD9F-4E6D-8534-0D862446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400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Skills, majors, and AI literacy may become more important in determining wages.</a:t>
            </a:r>
          </a:p>
        </p:txBody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B2C5C2C1-4321-40FF-BD19-4AAC1F0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3192125"/>
            <a:ext cx="7953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2024 WAGE COMPARISON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A48CDFF8-B68E-4B9D-B7F1-85844B1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13716000"/>
            <a:ext cx="7953375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A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14B8B583-C9F4-40D1-9402-2EFF8BE3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39827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Professional &amp; technical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19FBCB5-A9E8-4500-A3D1-C0F2C5E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14087475"/>
            <a:ext cx="39147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8010EF2-4BFE-4B00-959C-0D7851DD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1403032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CNY 148,046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7B8B01E6-1C2A-480F-ADED-8F6344C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4668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Urban non-private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7543B2A-BDBC-4925-AAED-D873B9D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14773275"/>
            <a:ext cx="3276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195D1F3-3AEA-4079-A5F0-15626C5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1471612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CNY 124,110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CAB47A5-BD3C-4A60-A7D8-62486E19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53543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Urban private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34B0B749-1ADF-48D5-AA61-E7A85F91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15459075"/>
            <a:ext cx="18383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81DB27C9-1802-457B-999A-51543C5C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15401925"/>
            <a:ext cx="895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CNY 69,476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6E9B74B-A7E3-4733-BD74-1E6933D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5982950"/>
            <a:ext cx="74771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66CCE315-77EB-4132-B9A2-075B6FD1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15982950"/>
            <a:ext cx="8572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78C7FE25-CB55-4008-A035-94D1848A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16059150"/>
            <a:ext cx="7134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565DEB7-3FCE-42F4-81C5-9799E08E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16297275"/>
            <a:ext cx="71151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Technical expertise remains strongly rewarded above both urban-sector averages.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FC41694-D455-4478-85E0-CF242F3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13192125"/>
            <a:ext cx="8191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SKILL DEMAND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0492D7C-65CE-4B6A-8361-FD515970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25" y="13716000"/>
            <a:ext cx="819150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6C6D27D-2625-4574-9A49-3B10EA2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404937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Current ChatGPT-related demand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AE8EC015-730D-46CC-808B-25DF15BB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125575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C663CF8-9D65-415F-BE32-8FB4C7E6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125575"/>
            <a:ext cx="2133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13F10F5C-B32F-4670-91B3-7BCDEF0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0" y="14049375"/>
            <a:ext cx="76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28%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6CF8946D-6FA3-4395-B952-6A9EF543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4868525"/>
            <a:ext cx="323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Potential future demand</a:t>
            </a:r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AA778802-36FB-44F4-ADE5-7B982E41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944725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B5761573-EA03-4CC1-B2AD-AA67234D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0" y="14944725"/>
            <a:ext cx="3429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7E32D5A-0667-4515-9872-3155ED10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0" y="14868525"/>
            <a:ext cx="762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4B10EFA-D1E6-4905-8F39-1E62A4F3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5697200"/>
            <a:ext cx="7572375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F0C6B30-A606-43FC-A622-0533468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75" y="15697200"/>
            <a:ext cx="85725" cy="828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80442DC-DD75-4805-925F-47D0F9CE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15773400"/>
            <a:ext cx="72294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B80504F-6076-4A49-B0C1-CF35B4D9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16011525"/>
            <a:ext cx="7210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demand is not limited to programmers. Social science graduates may gain if they build AI literacy.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62596D4-211E-42D8-8DBB-7C215207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859250"/>
            <a:ext cx="1400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HIGH-PAYING UNDERGRADUATE MAJORS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31F3EFE0-9ABA-4FA9-B616-A6F822CF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83125"/>
            <a:ext cx="140017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737C0C16-C8D9-40A9-A8F4-60D546EA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573625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Information Security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4A0F46F-59EB-422C-B1DC-8B29E2C3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7649825"/>
            <a:ext cx="79533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2F12AA4E-747A-4086-98BA-EC42193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75736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CNY 7,599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A55935D-8376-49E8-871D-7DDC3CDC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0213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Microelectronics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40D01D10-034A-4AD5-B682-D544B489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8097500"/>
            <a:ext cx="68294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CBA7AA8F-A046-4794-B517-7C711BC5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80213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CNY 7,282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58E76F74-E800-40DF-8DC4-80F1D66B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468975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Electronic Science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D0CEBE3-C4B1-46F9-AFD2-8CC54555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8545175"/>
            <a:ext cx="6591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D30FCBCD-ADEF-4DB3-AA2E-BCE08AE9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846897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CNY 7,215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00FFE09-DCCA-4BF5-8220-304BAC9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91665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AAEF34BA-8090-41AB-A9A2-9B2BFBC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8992850"/>
            <a:ext cx="62103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81EC37DE-3948-4F68-B3D5-BE2993AD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89166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CNY 7,108</a:t>
            </a:r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AEB255E-4C3F-46EF-AE48-BFB79CB6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64325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Software Engineering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03010C17-2828-4B98-8CF0-8490661A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440525"/>
            <a:ext cx="6153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C8C7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74BF3060-7991-4E3F-BFAD-BCD59F0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9364325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3C8C7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CNY 7,092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6FF3C37C-02E8-40F4-81FE-DE87A647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812000"/>
            <a:ext cx="2619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Undergraduate average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2D8725C0-0FA9-4B22-948D-8D838022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9888200"/>
            <a:ext cx="29813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5B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0348088-B8AD-476E-925A-0F0879AA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0" y="198120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CNY 6,199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812990A-8EEF-4697-9574-6817CEA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0" y="17383125"/>
            <a:ext cx="7381875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5992EB90-85FF-4FBE-944D-7199025C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0" y="17383125"/>
            <a:ext cx="85725" cy="3095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334AFCF-CA70-44CE-9234-1C73049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7459325"/>
            <a:ext cx="7038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5FAA4844-E403-4B04-8C4E-2992F2CA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3850" y="17697450"/>
            <a:ext cx="70199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highest-paying majors cluster in information technology and engineering, supporting a continuing early-career STEM advantage.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8C57CF62-9C0A-4EB0-AD23-4F4E9E15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21625"/>
            <a:ext cx="21669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AEF4DA77-6B58-4EAE-A8FD-DFFC0A3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002625"/>
            <a:ext cx="6905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D402801-4DBD-4142-A265-AFFF563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6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8B2268A5-5C58-42D8-84FE-9E83F4A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64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D3E41C3-3880-40ED-AAE1-5BE6A081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74075"/>
            <a:ext cx="585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TECHNICAL WORKERS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D484F819-3013-4376-B9D0-B4EF963C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669375"/>
            <a:ext cx="642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Earn above-average wages.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2DEF1767-2465-4ED1-AB13-168F6A5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11705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Implication: STEM skills retain strong market value.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B49BFF98-D058-4FC5-85A3-3BB08284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1002625"/>
            <a:ext cx="6905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D8AC4DD-CDEF-4483-A1C0-7C4F426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116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9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36526F88-BBF3-491F-A978-F6B3545E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0" y="21164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20563D2-10F0-4EEA-A2BD-291E1B2F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21174075"/>
            <a:ext cx="585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HIGH-PAYING MAJORS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3ACEEA7-F884-42FA-A3B0-97420455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21669375"/>
            <a:ext cx="642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Are mostly STEM-related.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AE60923-D0C1-4674-85CD-A8371CC1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75" y="2211705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Implication: STEM may retain an early-career advantage.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5EE61A98-DDF1-45CB-986C-8F45B9DE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0" y="21002625"/>
            <a:ext cx="6905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1F196A55-D338-4642-9295-7CFBD574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1164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6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1F3C15F-F337-4FA3-A1BA-A6E78573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0" y="211645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C0B433DA-EE07-4E0E-912E-0D779A4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0" y="21174075"/>
            <a:ext cx="5857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AI SKILLS</a:t>
            </a:r>
          </a:p>
        </p:txBody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F8B3F74-B583-4F30-B3A0-9B2E447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75" y="21669375"/>
            <a:ext cx="642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Are spreading across occupations.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ECB2DF7F-4C2C-476D-B561-9ED5058A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83875" y="22117050"/>
            <a:ext cx="642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Implication: Social science graduates can also benefit.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1D6D24D-86C2-4A96-B47A-7267C14E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98125"/>
            <a:ext cx="2166937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IMPLICATION  Generative AI is more likely to reshape the wage gap than simply widen or narrow it.</a:t>
            </a:r>
          </a:p>
        </p:txBody>
      </p:sp>
      <p:sp>
        <p:nvSpPr>
          <p:cNvPr id="325" name="section-05-number">
            <a:extLst xmlns:a="http://schemas.openxmlformats.org/drawingml/2006/main">
              <a:ext uri="{FF2B5EF4-FFF2-40B4-BE49-F238E27FC236}">
                <a16:creationId xmlns:a16="http://schemas.microsoft.com/office/drawing/2014/main" id="{D213DC25-4EB5-4FA7-A368-F8670D21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366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6A5E0556-BA31-4104-BFE1-C54C9E76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556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95F9AB7C-89A5-4056-9634-DA5DC1D7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355675"/>
            <a:ext cx="62769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Discussion &amp; Conclusion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D572D286-C933-44CA-B1E3-0E94CEAB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03375"/>
            <a:ext cx="700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88DE7C1-789C-4996-B075-6A5FC1A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65300"/>
            <a:ext cx="7000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THREE POSSIBLE OUTCOMES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D74BD07C-3D79-4DCA-BCF2-C15602F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574875"/>
            <a:ext cx="7000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9627F8D0-AC30-4BA9-B716-8CD2850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89175"/>
            <a:ext cx="6619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WIDENING GAP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8D51BD0-683E-42BE-9167-26966D5B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51125"/>
            <a:ext cx="6619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complements technical skills, increasing the STEM wage premium.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D48D18F9-4C17-4B08-875F-CC77B98E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0"/>
            <a:ext cx="7000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48F2D7E6-07E1-4CAF-8009-99F3266B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70300"/>
            <a:ext cx="6619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NARROWING GAP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97F29792-1757-4F16-8E3D-2501FFA9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432250"/>
            <a:ext cx="6619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AI lowers barriers to analysis, writing, and business research.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995CBA7-1CBB-4DD4-B546-1E8EF5D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337125"/>
            <a:ext cx="70008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E14D72E8-6000-4F22-AF40-3293975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51425"/>
            <a:ext cx="66198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RESHAPED GAP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C9E83CA-DEB4-406B-8703-2389E9E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13375"/>
            <a:ext cx="6619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Hybrid AI literacy plus domain knowledge becomes the main advantage.</a:t>
            </a:r>
          </a:p>
        </p:txBody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4657F8A0-CFCB-43D7-B980-D2D7AD0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832550"/>
            <a:ext cx="7000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C8C7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C8C76"/>
                </a:solidFill>
                <a:latin typeface="Arial"/>
                <a:ea typeface="Arial"/>
                <a:cs typeface="Arial"/>
              </a:rPr>
              <a:t>FINAL CONCLUSION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100EE9B-E2B6-4FEC-B593-0DDFDD7E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0"/>
            <a:ext cx="700087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133350" rIns="190500" bIns="1333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The evidence does not support a simple “STEM wins, social science loses” story. AI changes skill demand: STEM gains from technical complementarity, while social science can gain through AI-assisted analysis, communication, and decision-making.</a:t>
            </a:r>
          </a:p>
        </p:txBody>
      </p:sp>
      <p:sp>
        <p:nvSpPr>
          <p:cNvPr id="341" name="section-06-number">
            <a:extLst xmlns:a="http://schemas.openxmlformats.org/drawingml/2006/main">
              <a:ext uri="{FF2B5EF4-FFF2-40B4-BE49-F238E27FC236}">
                <a16:creationId xmlns:a16="http://schemas.microsoft.com/office/drawing/2014/main" id="{711697FC-82EB-4B30-B497-6175D9D7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63366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ADDE13EA-3A56-427F-A903-2300B628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63556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6D3C91BA-892A-467D-9047-FAFEE343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26355675"/>
            <a:ext cx="584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5E1BC991-93C7-416C-BCE3-EFD8729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7003375"/>
            <a:ext cx="657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3E03A8CF-AA74-4522-8934-B8BA01A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7165300"/>
            <a:ext cx="6572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FE108691-9405-4ACF-ABFF-7D1B13D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2730817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75B5"/>
                </a:solidFill>
                <a:latin typeface="Arial"/>
                <a:ea typeface="Arial"/>
                <a:cs typeface="Arial"/>
              </a:rPr>
              <a:t>STRENGTHS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899E390-A029-4701-ABE3-8FBE1DEB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2768917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Multiple evidence types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Links AI to graduate employment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Focuses on wage inequality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Uses official and market evidence</a:t>
            </a:r>
          </a:p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6D8E8C06-C04C-4849-91C9-1C921DFA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9527500"/>
            <a:ext cx="6572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CF2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7FB4CB8B-4F82-4D88-891D-8DD47438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2967037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79BC29FE-57BB-422C-A55A-BB0BCE6E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005137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Wages are not classified directly by major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Job postings show advertised wages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AI adoption is difficult to measure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Cycles and regions also matter</a:t>
            </a:r>
          </a:p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C676EAF6-9ABE-4FA6-AFEF-D130D7A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31889700"/>
            <a:ext cx="6572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0EB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1224D6E-6F10-4701-8764-FDDD96B5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2032575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56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56A8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64D14401-91D8-48B1-B36A-1A79339D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32413575"/>
            <a:ext cx="6191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Collect city-level job postings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Compare specific occupations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Survey actual AI tool use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Estimate within-major AI premiums</a:t>
            </a:r>
          </a:p>
        </p:txBody>
      </p:sp>
      <p:sp>
        <p:nvSpPr>
          <p:cNvPr id="354" name="section-07-number">
            <a:extLst xmlns:a="http://schemas.openxmlformats.org/drawingml/2006/main">
              <a:ext uri="{FF2B5EF4-FFF2-40B4-BE49-F238E27FC236}">
                <a16:creationId xmlns:a16="http://schemas.microsoft.com/office/drawing/2014/main" id="{3FFF6A1B-6476-4947-A231-3D1497F2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63366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548BC768-52BD-4B0B-88DD-A0ED77D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635567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8DE2413D-2257-4C97-9F3D-862EC284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2650" y="26355675"/>
            <a:ext cx="53244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3346947B-86FB-482D-9BBC-2247B776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7003375"/>
            <a:ext cx="604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DC1ACF56-CFFD-4102-90D7-B56B53CF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716530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DATA AND LITERATURE SOURCES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211C383E-ED9F-4CD3-8066-0B2178B9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27546300"/>
            <a:ext cx="6048375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NBS: official urban wage statistics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Ministry of Education: graduate counts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CGSS: education, occupation, income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CFPS: family, education, employment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CHFS: income, assets, education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MyCOS: early-career wages by major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Job-posting studies: AI skills and wages</a:t>
            </a:r>
          </a:p>
          <a:p xmlns:a="http://schemas.openxmlformats.org/drawingml/2006/main">
            <a:pPr algn="l">
              <a:defRPr sz="13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• Stanford AI Index: adoption context</a:t>
            </a:r>
          </a:p>
        </p:txBody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A65A581E-2CE1-4D1A-A11E-9ADD6782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190875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SHORT APA REFERENCES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10C2BD03-9CA2-46BD-9290-7271870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2289750"/>
            <a:ext cx="60483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B7A"/>
                </a:solidFill>
                <a:latin typeface="Arial"/>
                <a:ea typeface="Arial"/>
                <a:cs typeface="Arial"/>
              </a:rPr>
              <a:t>NBS China (2025); Ministry of Education (2024); MyCOS Research Institute (2025); Zhang et al. (2023); Stanford HAI (2024); CGSS; CFPS; CHFS.</a:t>
            </a:r>
          </a:p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5ED5ACA-ACB7-49BC-90A7-E434FC9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0" y="34004250"/>
            <a:ext cx="604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95250" rIns="114300" bIns="952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9B4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49B42"/>
                </a:solidFill>
                <a:latin typeface="Arial"/>
                <a:ea typeface="Arial"/>
                <a:cs typeface="Arial"/>
              </a:rPr>
              <a:t>Final links and publication details should be checked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6795098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2026-06-11T06:31:48.4590000Z</dcterms:created>
  <dcterms:modified xsi:type="dcterms:W3CDTF">2026-06-11T06:31:48.4590000Z</dcterms:modified>
</coreProperties>
</file>