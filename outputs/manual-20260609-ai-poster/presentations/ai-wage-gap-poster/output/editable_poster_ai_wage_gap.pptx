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1f198a52cc48d2" /><Relationship Type="http://schemas.openxmlformats.org/officeDocument/2006/relationships/extended-properties" Target="/docProps/app.xml" Id="R761fb568ab1240a4" /><Relationship Type="http://schemas.openxmlformats.org/officeDocument/2006/relationships/officeDocument" Target="/ppt/presentation.xml" Id="R0106c5f90db841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176c69ec04e78"/>
  </p:sldMasterIdLst>
  <p:notesMasterIdLst>
    <p:notesMasterId xmlns:r="http://schemas.openxmlformats.org/officeDocument/2006/relationships" r:id="R2da82cb9a34b4645"/>
  </p:notesMasterIdLst>
  <p:sldIdLst>
    <p:sldId xmlns:r="http://schemas.openxmlformats.org/officeDocument/2006/relationships" id="256" r:id="Rbdc8b4618f8649dc"/>
  </p:sldIdLst>
  <p:sldSz cx="43891200" cy="3291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6b3a6a5fa7497c" /><Relationship Type="http://schemas.openxmlformats.org/officeDocument/2006/relationships/slideMaster" Target="/ppt/slideMasters/slideMaster1.xml" Id="R0b9176c69ec04e78" /><Relationship Type="http://schemas.openxmlformats.org/officeDocument/2006/relationships/notesMaster" Target="/ppt/notesMasters/notesMaster1.xml" Id="R2da82cb9a34b4645" /><Relationship Type="http://schemas.openxmlformats.org/officeDocument/2006/relationships/presProps" Target="/ppt/presProps.xml" Id="R8d55e48131d34e22" /><Relationship Type="http://schemas.openxmlformats.org/officeDocument/2006/relationships/viewProps" Target="/ppt/viewProps.xml" Id="R6272f42375ca415d" /><Relationship Type="http://schemas.openxmlformats.org/officeDocument/2006/relationships/tableStyles" Target="/ppt/tableStyles.xml" Id="R4d46e9ca5ef84ab9" /><Relationship Type="http://schemas.openxmlformats.org/officeDocument/2006/relationships/slide" Target="/ppt/slides/slide1.xml" Id="Rbdc8b4618f8649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3643f535fb4a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a106570e524f43" /><Relationship Type="http://schemas.openxmlformats.org/officeDocument/2006/relationships/notesMaster" Target="/ppt/notesMasters/notesMaster1.xml" Id="R3da787eae68f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ddca98e5644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e4b5aa4f148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35c5ad54c4c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00f5054714b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9db48402a4a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c1b31198149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ce03ace9a4c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c63d148a34a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f7807ac6040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47697891d47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36293c618475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C35675-CA36-4E96-B1BC-E57D550ABF2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91840" y="5387342"/>
            <a:ext cx="37307520" cy="1146048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88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A45D5D-EC52-4934-8700-EBD4491C30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86400" y="17289782"/>
            <a:ext cx="32918400" cy="7947658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A391AE-BBD5-4F1C-9B31-6D9DBB05CF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BC40F8-AAE7-437A-8AEA-625EA3CCFF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0CCF98-9F2F-4C4D-BF77-A9EB2E01F1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FE0598-E608-41A7-99BB-64F2F7BD3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73C819-5F09-4603-BD4D-74DF5DB46D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09E201-0D01-4F9A-A476-AAE2932B3E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6BF7F7-6A8F-47F5-A560-24B6006E4C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053E3B-6ED2-481C-AEF9-46D5A59C14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A1B51A-318D-4AB5-908D-D134EF110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94662" y="8206749"/>
            <a:ext cx="37856160" cy="13693138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88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64AF3C-AF56-44FE-A43D-AA5134A247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94662" y="22029429"/>
            <a:ext cx="37856160" cy="720089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45B31B-0705-4003-98EC-6833F412BD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AF715C-DBA0-441D-9B48-6CC595537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1E7D1D-EC08-434B-86D2-C3D4D239A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827CF8-2E18-46E9-A3F2-82B54194C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7A359F-2DDC-4E6E-8819-D905DD02F4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17520" y="8763000"/>
            <a:ext cx="18653760" cy="208864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8FA20C-1FE8-4A34-A97D-C85DB680A7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219920" y="8763000"/>
            <a:ext cx="18653760" cy="208864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7A7E79F-3748-4EF0-8A7D-7D76127DAD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3B7DFB-4156-47DE-8013-BDC0AF814C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D72025-B442-4DCB-A66B-3C6C183D50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1FC310-1FDC-496B-AF24-8C60533EB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1752607"/>
            <a:ext cx="37856160" cy="636270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FB1885-7EAE-4A71-8C58-371DC25CA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23242" y="8069582"/>
            <a:ext cx="18568032" cy="395477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CCC308-21A6-492D-9E84-5834E76F26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023242" y="12024360"/>
            <a:ext cx="18568032" cy="176860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41EAF4E-6BAE-49AC-8076-A496D8402DA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2219922" y="8069582"/>
            <a:ext cx="18659477" cy="395477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C15565E-BA76-4AC3-97D3-1ABDCE65BCA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22219922" y="12024360"/>
            <a:ext cx="18659477" cy="176860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6F9702A-36E0-4D8B-9D92-CDDA8B8924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2CBB916-8A9F-4D87-84E9-7ABE7CF34F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8821D74-5BBC-4022-9D64-ACE5B187F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8C6025-B892-41D2-87EC-6D7B3E29F7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605AA7D-D0FD-4E6A-9E25-DBD7077506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AFBF018-38F3-4256-AE80-683ECB90CC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6996745-076A-4337-804B-A38F8DCDFC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C87DEB4-A2E3-4284-AD14-D7E2A6C442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DACA89D-2A98-4A14-86FE-F3D78BEC84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284CF82-B62C-4E73-B874-F43191BDFC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AE475A-6685-4F11-96FC-521ABFF5B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2194560"/>
            <a:ext cx="14156054" cy="768096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536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A40F05-0D6E-4586-AD55-DC2DB6F500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8659477" y="4739647"/>
            <a:ext cx="22219920" cy="23393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360"/>
            </a:lvl1pPr>
            <a:lvl2pPr>
              <a:buNone/>
              <a:defRPr sz="13440"/>
            </a:lvl2pPr>
            <a:lvl3pPr>
              <a:buNone/>
              <a:defRPr sz="11520"/>
            </a:lvl3pPr>
            <a:lvl4pPr>
              <a:buNone/>
              <a:defRPr sz="9600"/>
            </a:lvl4pPr>
            <a:lvl5pPr>
              <a:buNone/>
              <a:defRPr sz="9600"/>
            </a:lvl5pPr>
            <a:lvl6pPr>
              <a:buNone/>
              <a:defRPr sz="9600"/>
            </a:lvl6pPr>
            <a:lvl7pPr>
              <a:buNone/>
              <a:defRPr sz="9600"/>
            </a:lvl7pPr>
            <a:lvl8pPr>
              <a:buNone/>
              <a:defRPr sz="9600"/>
            </a:lvl8pPr>
            <a:lvl9pPr>
              <a:buNone/>
              <a:defRPr sz="96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4E14D6-341C-409B-AF9B-B161A457B1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23237" y="9875520"/>
            <a:ext cx="14156054" cy="182956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567807-0C3C-44C6-AFFA-D81A022A9F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32FB72-D4BD-4DEC-9A08-4887A00B0F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291D43-9D50-4F55-B0F4-070056446B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2925CE-7A1F-4982-B083-F36AEE062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2194560"/>
            <a:ext cx="14156054" cy="768096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536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7BF5B53-2BFF-49C6-8426-5D4DE88E3DC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8659477" y="4739647"/>
            <a:ext cx="22219920" cy="23393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7AAD7DD-F6C7-4EE4-B15E-16B026A5F9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23237" y="9875520"/>
            <a:ext cx="14156054" cy="182956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AC8AE0-BD21-4349-8DD1-7FB51B964A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095EA79-0D39-4D3D-B249-3424D8A6BB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7A8B63-118F-423B-A62B-8CA7FC9B0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1A1116-794F-4634-B29F-25B5F7247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9A99A7-AD1A-4CEC-872E-4B3DA2949D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22AB7F-7790-4D80-8208-29ED1B7BBC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DA62D8-6949-457C-9A1C-03027B067D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BABE00-0585-4F58-88CE-E54D4240C9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B79FC86-C129-4B5D-BBE3-924664A3B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409642" y="1752600"/>
            <a:ext cx="9464040" cy="27896822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C5FBD3-80BC-4A1B-895E-15B91E98B7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17522" y="1752600"/>
            <a:ext cx="27843480" cy="27896822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140C04-9CAE-4EEB-9038-CAD826138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C99FA0-397E-476B-8EEC-FA02738338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954DA9-7404-41ED-BC14-86E8DF55D7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2256cf46874dde" /><Relationship Type="http://schemas.openxmlformats.org/officeDocument/2006/relationships/slideLayout" Target="/ppt/slideLayouts/slideLayout1.xml" Id="R55cd9a7e2b9041b4" /><Relationship Type="http://schemas.openxmlformats.org/officeDocument/2006/relationships/slideLayout" Target="/ppt/slideLayouts/slideLayout2.xml" Id="R9b12b247217749fc" /><Relationship Type="http://schemas.openxmlformats.org/officeDocument/2006/relationships/slideLayout" Target="/ppt/slideLayouts/slideLayout3.xml" Id="Rd673bbeb67454c5a" /><Relationship Type="http://schemas.openxmlformats.org/officeDocument/2006/relationships/slideLayout" Target="/ppt/slideLayouts/slideLayout4.xml" Id="R5951a52a0dd9479c" /><Relationship Type="http://schemas.openxmlformats.org/officeDocument/2006/relationships/slideLayout" Target="/ppt/slideLayouts/slideLayout5.xml" Id="R75b00c88d3ba44f4" /><Relationship Type="http://schemas.openxmlformats.org/officeDocument/2006/relationships/slideLayout" Target="/ppt/slideLayouts/slideLayout6.xml" Id="R3e989068996641cd" /><Relationship Type="http://schemas.openxmlformats.org/officeDocument/2006/relationships/slideLayout" Target="/ppt/slideLayouts/slideLayout7.xml" Id="R33f30fd5ca914704" /><Relationship Type="http://schemas.openxmlformats.org/officeDocument/2006/relationships/slideLayout" Target="/ppt/slideLayouts/slideLayout8.xml" Id="R49431573216c4024" /><Relationship Type="http://schemas.openxmlformats.org/officeDocument/2006/relationships/slideLayout" Target="/ppt/slideLayouts/slideLayout9.xml" Id="R2dc9212060004da8" /><Relationship Type="http://schemas.openxmlformats.org/officeDocument/2006/relationships/slideLayout" Target="/ppt/slideLayouts/slideLayout10.xml" Id="Re9181d84ed254446" /><Relationship Type="http://schemas.openxmlformats.org/officeDocument/2006/relationships/slideLayout" Target="/ppt/slideLayouts/slideLayout11.xml" Id="Rfb586efb28ab4a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F337828-82B0-435A-ACA6-C8C7C3AA3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7520" y="1752607"/>
            <a:ext cx="37856160" cy="63627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C19AF3-0BBE-4027-AEC1-E8CE8C7D28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17520" y="8763000"/>
            <a:ext cx="37856160" cy="20886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81C1D4-7882-4C0F-BB1A-FC8E754650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17520" y="30510487"/>
            <a:ext cx="987552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93C412-34FC-4DEF-99AA-F87B77B0EE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38960" y="30510487"/>
            <a:ext cx="1481328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2222E2-38E4-46B6-BB55-4B9403E494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0998160" y="30510487"/>
            <a:ext cx="987552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cd9a7e2b9041b4"/>
    <p:sldLayoutId xmlns:r="http://schemas.openxmlformats.org/officeDocument/2006/relationships" id="2147483650" r:id="R9b12b247217749fc"/>
    <p:sldLayoutId xmlns:r="http://schemas.openxmlformats.org/officeDocument/2006/relationships" id="2147483651" r:id="Rd673bbeb67454c5a"/>
    <p:sldLayoutId xmlns:r="http://schemas.openxmlformats.org/officeDocument/2006/relationships" id="2147483652" r:id="R5951a52a0dd9479c"/>
    <p:sldLayoutId xmlns:r="http://schemas.openxmlformats.org/officeDocument/2006/relationships" id="2147483653" r:id="R75b00c88d3ba44f4"/>
    <p:sldLayoutId xmlns:r="http://schemas.openxmlformats.org/officeDocument/2006/relationships" id="2147483654" r:id="R3e989068996641cd"/>
    <p:sldLayoutId xmlns:r="http://schemas.openxmlformats.org/officeDocument/2006/relationships" id="2147483655" r:id="R33f30fd5ca914704"/>
    <p:sldLayoutId xmlns:r="http://schemas.openxmlformats.org/officeDocument/2006/relationships" id="2147483656" r:id="R49431573216c4024"/>
    <p:sldLayoutId xmlns:r="http://schemas.openxmlformats.org/officeDocument/2006/relationships" id="2147483657" r:id="R2dc9212060004da8"/>
    <p:sldLayoutId xmlns:r="http://schemas.openxmlformats.org/officeDocument/2006/relationships" id="2147483658" r:id="Re9181d84ed254446"/>
    <p:sldLayoutId xmlns:r="http://schemas.openxmlformats.org/officeDocument/2006/relationships" id="2147483659" r:id="Rfb586efb28ab4a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112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097280" indent="-1097280" algn="l">
        <a:lnSpc>
          <a:spcPct val="90000"/>
        </a:lnSpc>
        <a:spcBef>
          <a:spcPts val="4800"/>
        </a:spcBef>
        <a:buChar char="•"/>
        <a:defRPr sz="1344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291840" indent="-1097280" algn="l">
        <a:lnSpc>
          <a:spcPct val="90000"/>
        </a:lnSpc>
        <a:spcBef>
          <a:spcPts val="2400"/>
        </a:spcBef>
        <a:buChar char="•"/>
        <a:defRPr sz="1152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7280" algn="l">
        <a:lnSpc>
          <a:spcPct val="90000"/>
        </a:lnSpc>
        <a:spcBef>
          <a:spcPts val="2400"/>
        </a:spcBef>
        <a:buChar char="•"/>
        <a:defRPr sz="96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96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52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07008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426464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645920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865376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19456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38912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658368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877824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97280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316736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536192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755648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56cabc5e341e7" /><Relationship Type="http://schemas.openxmlformats.org/officeDocument/2006/relationships/image" Target="/ppt/media/image.gif" Id="Reab7bae56d0a4881" /><Relationship Type="http://schemas.openxmlformats.org/officeDocument/2006/relationships/notesSlide" Target="/ppt/notesSlides/notesSlide1.xml" Id="R20763c82ee01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0B6EAC-CAF2-44A8-84C1-08D9C8DF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78" y="319600"/>
            <a:ext cx="43079437" cy="2424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AF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DA575FD-134C-4566-9A66-38467CA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85" y="3131252"/>
            <a:ext cx="10972800" cy="14002506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AF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4C3F4F-6BAD-429F-8C96-D3535479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382250" cy="1051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01  BACKGROUND</a:t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AA6C8F77-9F3F-4F55-8DE7-DB43DE17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59" y="3092064"/>
            <a:ext cx="31703555" cy="7114479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AF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C49C401C-85C6-41A9-8FC8-C2A896DA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59" y="10691347"/>
            <a:ext cx="31703556" cy="14313498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AF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15A90485-E87D-4D8B-8A5C-60C7CC66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78" y="17539854"/>
            <a:ext cx="10972800" cy="14910699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AF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43462E99-FBC6-43DE-A812-E5E85E4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54600"/>
            <a:ext cx="10382250" cy="1051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02  RESEARCH QUESTION(S)</a:t>
            </a:r>
          </a:p>
        </p:txBody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0F4F1E22-E192-4EE4-970B-61DA2BF8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33750"/>
            <a:ext cx="10096500" cy="1051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03  METHOD</a:t>
            </a:r>
          </a:p>
        </p:txBody>
      </p:sp>
      <p:sp>
        <p:nvSpPr>
          <p:cNvPr id="124" name="TextBox 123">
            <a:extLst xmlns:a="http://schemas.openxmlformats.org/drawingml/2006/main">
              <a:ext uri="{FF2B5EF4-FFF2-40B4-BE49-F238E27FC236}">
                <a16:creationId xmlns:a16="http://schemas.microsoft.com/office/drawing/2014/main" id="{53088AB6-1595-4DBF-8CED-43B846FB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1830050"/>
            <a:ext cx="51435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solidFill>
                  <a:srgbClr val="A40000"/>
                </a:solidFill>
                <a:latin typeface="Trebuchet MS"/>
                <a:ea typeface="Trebuchet MS"/>
                <a:cs typeface="Trebuchet MS"/>
              </a:rPr>
              <a:t/>
            </a:r>
          </a:p>
        </p:txBody>
      </p:sp>
      <p:sp>
        <p:nvSpPr>
          <p:cNvPr id="125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C01DA009-A30A-4915-9D9B-0603A065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59" y="25435915"/>
            <a:ext cx="10972798" cy="7022592"/>
          </a:xfrm>
          <a:prstGeom xmlns:a="http://schemas.openxmlformats.org/drawingml/2006/main" prst="roundRect">
            <a:avLst>
              <a:gd name="adj" fmla="val 2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AF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6" name="TextBox 125">
            <a:extLst xmlns:a="http://schemas.openxmlformats.org/drawingml/2006/main">
              <a:ext uri="{FF2B5EF4-FFF2-40B4-BE49-F238E27FC236}">
                <a16:creationId xmlns:a16="http://schemas.microsoft.com/office/drawing/2014/main" id="{ADEDD434-ACBC-4A32-BA9E-9E7E3849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5717500"/>
            <a:ext cx="10382250" cy="1051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05  DISCUSSION &amp; CONCLUSION</a:t>
            </a:r>
          </a:p>
        </p:txBody>
      </p:sp>
      <p:sp>
        <p:nvSpPr>
          <p:cNvPr id="127" name="Rectangle 126">
            <a:extLst xmlns:a="http://schemas.openxmlformats.org/drawingml/2006/main">
              <a:ext uri="{FF2B5EF4-FFF2-40B4-BE49-F238E27FC236}">
                <a16:creationId xmlns:a16="http://schemas.microsoft.com/office/drawing/2014/main" id="{EE7DA5C2-3D48-42DD-ABBA-C082C6D2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1" y="25431646"/>
            <a:ext cx="9483635" cy="7022592"/>
          </a:xfrm>
          <a:prstGeom xmlns:a="http://schemas.openxmlformats.org/drawingml/2006/main" prst="roundRect">
            <a:avLst>
              <a:gd name="adj" fmla="val 2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AF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6" name="TextBox 135">
            <a:extLst xmlns:a="http://schemas.openxmlformats.org/drawingml/2006/main">
              <a:ext uri="{FF2B5EF4-FFF2-40B4-BE49-F238E27FC236}">
                <a16:creationId xmlns:a16="http://schemas.microsoft.com/office/drawing/2014/main" id="{650A4A90-DCAB-42BA-937A-9DDA8582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25717500"/>
            <a:ext cx="8953500" cy="1051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07  REFERENCES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459A801-D24C-48FF-A8FE-14B3AFC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32385000" cy="155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3225" b="1">
                <a:solidFill>
                  <a:srgbClr val="173B6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</a:rPr>
              <a:t>Generative AI and the STEM-Social Science Wage Gap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3225" b="1" i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in China's Labor Market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96990EC-EF58-4341-9700-BDAD98C9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9379" y="25427962"/>
            <a:ext cx="10251515" cy="7022592"/>
          </a:xfrm>
          <a:prstGeom xmlns:a="http://schemas.openxmlformats.org/drawingml/2006/main" prst="roundRect">
            <a:avLst>
              <a:gd name="adj" fmla="val 2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AF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A1AF1CF-1A57-451B-8519-459854A7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0" y="25717500"/>
            <a:ext cx="9763125" cy="1051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06  EVALUATION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5F2993B-0A41-4B88-BAF5-40C8FBA9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3333750"/>
            <a:ext cx="9906000" cy="990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145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3.2  VARIABLES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FC2DAAD-4CAE-4D75-871E-7DC150F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0" y="3333750"/>
            <a:ext cx="10096500" cy="930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145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3.3  ANALYTICAL STRATEGY</a:t>
            </a:r>
          </a:p>
        </p:txBody>
      </p:sp>
      <p:pic>
        <p:nvPicPr>
          <p:cNvPr id="14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7bae56d0a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095" y="0"/>
            <a:ext cx="3024505" cy="235204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7F466AE-20F9-482A-8C6B-F016A921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3429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Presented by: Student A, Student B, Student C, Student D  |  Instructor: Zhu Jingyi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84A9C78-16E4-40C2-AA4E-A2D1059D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3429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Poster Presentation, English for International Academic Communication  |  June 21, 2026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B0FBA15-2472-4D24-BC3C-07396D89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0" y="266700"/>
            <a:ext cx="40957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AI + WORK + WAGES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52FB5BB-4004-4D4D-BAF6-AF58B28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ED421A1-32E3-4CD2-9EDE-CB9095E8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9953625" cy="709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- Generative AI entered education and workplaces rapidly after 2022.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- China expected 12.22 million college graduates in 2025.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- STEM graduates traditionally earn higher returns from technical, data, and engineering skills.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- Social science work is increasingly AI-assisted across marketing, finance, consulting, HR, media, and policy.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6917F54-E030-4E13-A95B-85F4BB4E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925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KEY TENSION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A7845E6-EE8A-4DC8-AD51-C79B9014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06300"/>
            <a:ext cx="9953625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28600" tIns="152400" rIns="2286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Is AI mainly a complement to STEM skills, or a general-purpose tool that benefits many majors?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ACA775F-7313-4068-8666-83F463E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38275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WIDEN?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6E96324-CEEC-451B-A325-B9ADB889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38275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NARROW?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4AC90FD-3EEB-4937-8CD8-B20490EB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382750"/>
            <a:ext cx="2476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RESHAPE?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BD0E943-9C94-409C-AB0F-FC9E31A7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68975"/>
            <a:ext cx="995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6E23D42-F494-47A9-AB3E-FEF3B567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0"/>
            <a:ext cx="995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Has generative AI widened or narrowed the wage gap between STEM and social science graduates in China?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6D457E2-FBBE-4C38-886F-AEC8D673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0"/>
            <a:ext cx="99536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1  Do technology-intensive occupations offer higher wages?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2  Are STEM majors still concentrated in high-paying early-career jobs?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3  Can social science graduates gain from AI-enhanced productivity?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7DBE15C-0875-4782-A13E-EEB205C9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0"/>
            <a:ext cx="9953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286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H1  AI complements technical skills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172E1E-73B6-457D-B61E-2B6E6A89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0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The STEM wage premium increases.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41C94C8-C193-424F-A2A2-F3AE6E99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32125"/>
            <a:ext cx="9953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286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H2  AI lowers barriers to analytical work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EFD498D-A902-4EC0-8096-2C091B57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51325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The major-based wage gap may decrease.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04C5887-BAA8-47DC-AD60-1634A5F8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48125"/>
            <a:ext cx="3105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D8E9FED-2981-481B-8A4D-EBFEAAF4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767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DATA SOURCES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655EAD5-43B3-4BB3-80C9-DCCEABE0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876800"/>
            <a:ext cx="9334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NBS wages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MOE graduate counts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CGSS / CFPS / CHFS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Online job postings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MyCOS employment reports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E9715DB-A362-4703-B049-A39B36FB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0" y="433387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OUTCOME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AA9BF1D-E573-4FB9-9BE4-91834A8B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0" y="4762500"/>
            <a:ext cx="933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Monthly / annual wage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Log wage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STEM wage premium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1707087-FA0D-4E82-BC58-CCA4C761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0" y="66675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EXPOSURE + CONTROLS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A31E6C8-E3E2-460F-B226-75A4DB7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0" y="7067550"/>
            <a:ext cx="933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Major type, post-2022, AI keywords, occupation, gender, age, region, industry, experience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7E52D30-4250-488D-822E-E328EE43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0" y="4572000"/>
            <a:ext cx="5334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05BC2ED-4E97-4D10-82AE-193BB165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0" y="45720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Collect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F086FE3-53A5-4D30-9E5B-34348445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0" y="4572000"/>
            <a:ext cx="5334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505898E-2733-459C-9D5A-DE4A20F2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7950" y="45720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Classify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8007DA1-2929-4147-A69A-F9E60A7E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0" y="4572000"/>
            <a:ext cx="5334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0329A68-6744-4F4F-8918-5A14B50D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0" y="45720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Tag AI exposure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17558E0-5C8C-4136-A880-898E5728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0" y="6191250"/>
            <a:ext cx="5334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38EB41B-A659-4925-90C4-2403F146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0" y="619125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Compare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2635338-318A-40CA-84EA-28096704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0" y="6191250"/>
            <a:ext cx="5334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D0E8989-E590-43EE-BB52-DDC9E53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7950" y="619125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Interpret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F73C208-C7AC-4460-A883-13B7AFEB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0" y="8039100"/>
            <a:ext cx="9525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beta3 in STEM x PostAI indicates whether the STEM premium changed after AI diffusion.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778F6C8-8F62-4226-8729-A9ADAA8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0877550"/>
            <a:ext cx="1143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286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04  RESULTS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5706C10-62BF-4814-B320-E780397B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1591925"/>
            <a:ext cx="3048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EF37EB0-FEB8-4416-9A1B-11C522E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0" y="10953750"/>
            <a:ext cx="1733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Descriptive evidence: technical skills retain a premium, while AI demand is diffusing beyond purely technical jobs.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1D33B82-811A-42B7-B5A4-4924A0C1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22872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5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12.22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A6384A7-E079-4F96-9A16-E86D974B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3430250"/>
            <a:ext cx="428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MILLION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C3051CB-0892-4273-97C9-536B0356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400175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expected college graduates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in China, 2025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9FEC69E-03E7-4D8E-AEE5-97BB23AB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50685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D9EAF7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D9EAF7"/>
                </a:solidFill>
                <a:latin typeface="Trebuchet MS"/>
                <a:ea typeface="Trebuchet MS"/>
                <a:cs typeface="Trebuchet MS"/>
              </a:rPr>
              <a:t>Competition makes wage differentiation by skill more consequential.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A5F58D5-53E3-492E-8F1A-3F1B3687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11830050"/>
            <a:ext cx="106680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BD6619E-F81E-4685-9212-649464E9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2225" y="12039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AAE1D15-0B12-4209-BED4-BBC75786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775" y="1200150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Technical work commands a wage premium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FD8EBD6-9EF8-47AB-AAD0-7B99DF80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775" y="12325350"/>
            <a:ext cx="1000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2024 average annual wage by worker category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B774930-E317-4B47-BC78-B6BA0B88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4175" y="14935200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DF1B7D8-C1A7-490E-83AC-90F7EDAE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3350" y="13708722"/>
            <a:ext cx="1104900" cy="1226478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F0E1358-C334-4EEB-B16F-5490EA93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7600" y="13365822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124,110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847E3A8-179E-4FD1-A736-95D93AB1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0" y="1503045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Urban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non-private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FDCABC4-3C8E-45BD-9CD3-06428638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0" y="14248625"/>
            <a:ext cx="1104900" cy="686575"/>
          </a:xfrm>
          <a:prstGeom xmlns:a="http://schemas.openxmlformats.org/drawingml/2006/main" prst="roundRect">
            <a:avLst>
              <a:gd name="adj" fmla="val 13873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00D4235-288B-4D8A-BE59-13BE0427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850" y="13905725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69,476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DD947E3-8A5E-4863-ADC8-D239CA51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0" y="1503045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Urban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private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4707159-7E7C-4127-B1DF-E179F9BF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9850" y="13472182"/>
            <a:ext cx="1104900" cy="1463018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27198AF-FBEA-480F-BFA4-7AFBC3F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4100" y="13129282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148,046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1F061CF-E498-404F-9C55-0EB03EAB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1503045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Professional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&amp; technical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4CF6A85-84AB-4CBE-9746-EEAAF96F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75" y="12611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CNY / year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386810C-1AA8-4B1A-9BC8-27257216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0" y="11830050"/>
            <a:ext cx="1438275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7562BBBF-4B5D-4A1A-8266-035B263E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8350" y="12039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AA4F43C-6AF3-483E-A0BF-F2F0DA3F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900" y="12001500"/>
            <a:ext cx="1371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AI skill demand is spreading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845A702-2F87-404E-BC6F-0052926B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900" y="12325350"/>
            <a:ext cx="1371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Share of occupations requiring ChatGPT-related skills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BD001BA-6EB9-44EC-AA79-48AF196E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0" y="129159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Current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BFDF130-7CF9-4662-BF6F-7A55D989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0" y="13258800"/>
            <a:ext cx="133540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3CA90D9-AA28-46F1-85C9-6999C51E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0" y="13258800"/>
            <a:ext cx="7478268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6119A22-7BA2-452D-BD28-806EE48D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8468" y="133921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28%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B5DD55E-37A6-4356-BA04-DF92B775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0" y="13944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Potential future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80DB08A-C27A-41CA-A706-23859169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0" y="14287500"/>
            <a:ext cx="133540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A1941D0-3AA7-413F-8922-740E0259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0" y="14287500"/>
            <a:ext cx="12018645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C7F3076-53BD-4B5C-9239-E796AB87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8845" y="144208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45%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15DED74-4C20-45F7-980F-07D928AD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021050"/>
            <a:ext cx="20383500" cy="7334250"/>
          </a:xfrm>
          <a:prstGeom xmlns:a="http://schemas.openxmlformats.org/drawingml/2006/main" prst="roundRect">
            <a:avLst>
              <a:gd name="adj" fmla="val 233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8EEF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2BA8423-761C-4ADA-A143-54DB5D9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6230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6DB624E-D574-440B-9CD9-5DE634C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6192500"/>
            <a:ext cx="1971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High-paying majors remain STEM-heavy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00C2793-E674-4F82-B2B5-5DBEBD16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6516350"/>
            <a:ext cx="1971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Early-career monthly wages of selected undergraduate majors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9B6A213-A233-4A61-943D-969A699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72402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Information Security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F278004-9BA9-4944-84D9-898F2C6A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7316450"/>
            <a:ext cx="1661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1C5848D-C3B6-4D2B-9B5E-9917856F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7316450"/>
            <a:ext cx="15778944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B6F5D03-8B00-4D36-B041-75DCC249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5144" y="17230725"/>
            <a:ext cx="857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7,599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C6D1C88-94BE-4F23-9E8C-265F80D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81927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Microelectronics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0246991-7147-481A-9344-9183D77C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8268950"/>
            <a:ext cx="1661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16EACA0-2673-4CC1-9C1E-C36A6CFA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8268950"/>
            <a:ext cx="15120709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A88C834-0866-4E02-A209-72A766A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6909" y="18183225"/>
            <a:ext cx="857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7,282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DEA57C6-81C9-476E-A230-5C17F518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91452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Electronic Science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FB763A7-D08A-4255-8C5B-2DC59132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9221450"/>
            <a:ext cx="1661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9219BFC-C1EE-495C-805E-012CD4A0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9221450"/>
            <a:ext cx="14981587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45A3174-48D9-4D16-8D22-E5D6375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7787" y="19135725"/>
            <a:ext cx="857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rPr>
              <a:t>7,215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2534CBC-9220-49F8-BC5D-9238768E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00977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Automation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4E77B03-774E-48DB-87F3-83AF8E86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0173950"/>
            <a:ext cx="1661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5623F72-0855-4FC1-A122-90E2530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0173950"/>
            <a:ext cx="14759407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22BC05A-2079-4C00-97DF-A0E32FCF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5607" y="20088225"/>
            <a:ext cx="857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rPr>
              <a:t>7,108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8AB39DD-3F17-425E-9ED4-5C7DDF7C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13550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Software Engineering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3F0C5AB-7150-4320-ADEB-9E23941D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1431250"/>
            <a:ext cx="1661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EC7807D-63E5-46E8-902C-1A91268B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1431250"/>
            <a:ext cx="14726183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F78B32F-0FC8-4212-9D82-BDB38EE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2383" y="21345525"/>
            <a:ext cx="857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rPr>
              <a:t>7,092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88991AC-7237-4E32-B175-EC9BBF4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23075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Undergraduate average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6831C0E-9968-4E6E-B238-F4C98516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2383750"/>
            <a:ext cx="1661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C24FB1C-8B8E-4017-BCF0-1BE2E7D7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2383750"/>
            <a:ext cx="12871914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97C155B-627F-4CA7-8B3C-8B8958D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8114" y="22298025"/>
            <a:ext cx="857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6,199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C6DD349-E79E-4CF2-B6AF-C700F495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0" y="16821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CNY / month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8E47523-ED1C-479A-8438-3C18D96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0" y="16021050"/>
            <a:ext cx="10001250" cy="7334250"/>
          </a:xfrm>
          <a:prstGeom xmlns:a="http://schemas.openxmlformats.org/drawingml/2006/main" prst="roundRect">
            <a:avLst>
              <a:gd name="adj" fmla="val 233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6FA3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E04FA50-B9E2-4134-99D0-7907BFC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16430625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KEY FINDINGS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EE1EFA7-6F3D-43E1-B3A8-B4A53847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1703070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27C9177-DE56-405C-8DBC-56825926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17430750"/>
            <a:ext cx="7239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867046E-9D51-4A94-8DDB-F64FC994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0" y="17411700"/>
            <a:ext cx="7620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Technical skills still command a strong wage premium.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4316049-E387-4461-8E65-206A51AC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19088100"/>
            <a:ext cx="7239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DD679F7-175F-4F9B-9832-1BD5CF35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0" y="19069050"/>
            <a:ext cx="7620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may widen the short-run STEM advantage.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F90BA06-75AB-4278-A85F-AAB5CD66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20745450"/>
            <a:ext cx="7239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85EF150-FC8B-4B03-867D-C7191A8F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0" y="20726400"/>
            <a:ext cx="7620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diffusion creates a route for non-STEM productivity gains.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2CF9E02-4DB2-4ED6-B1D1-36C2F7DC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2226945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Overall: AI is reshaping the gap more clearly than it is simply widening or narrowing it.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A97A2B9-58D1-4285-A884-D56AB4C1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6384250"/>
            <a:ext cx="1019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23B23DF-3A9F-4E6E-A240-47C37E95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6860500"/>
            <a:ext cx="10096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- AI changes the value of skills rather than simply replacing workers.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- STEM benefits when AI complements programming, engineering, and data analysis.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- Social science benefits when domain knowledge is paired with AI literacy.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A6AA014-BB29-42E4-985A-0354E480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04800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MAIN TAKEAWAY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59F61C0-45B4-4374-8EBC-0863B55F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0803850"/>
            <a:ext cx="10096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73B6C"/>
            </a:solidFill>
            <a:prstDash val="solid"/>
          </a:ln>
        </p:spPr>
        <p:txBody>
          <a:bodyPr xmlns:a="http://schemas.openxmlformats.org/drawingml/2006/main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AI rewards workers who combine technical tools with human judgment.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A6DFA6F-B860-4EE8-9375-C4D16EEA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26384250"/>
            <a:ext cx="957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E56B0BA0-7C31-4368-91A4-7D4D78F1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26860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8B78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E8B78"/>
                </a:solidFill>
                <a:latin typeface="Trebuchet MS"/>
                <a:ea typeface="Trebuchet MS"/>
                <a:cs typeface="Trebuchet MS"/>
              </a:rPr>
              <a:t>STRENGTHS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0D13457-304E-4B0E-ADA0-3E3268B3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2722245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Multiple evidence sources; timely question; direct comparison of major groups.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A6A7E50-CBBC-470D-AFCA-4A7E18C1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28289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LIMITATIONS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2A59E57-AF72-427E-B859-6C4FC28D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28651200"/>
            <a:ext cx="952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Statistics are rarely organized by major; AI use is imperfectly measured; postings are not received wages.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2A4B481-F436-4298-8A78-4D6D84B7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30289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FUTURE WORK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8758C68-91F3-4FE9-857D-6B4612F3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30651450"/>
            <a:ext cx="952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Estimate occupation-specific AI premiums and survey actual AI use among graduates.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1E0AE08-D05F-4490-AF75-2ACD1D03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26384250"/>
            <a:ext cx="876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D4570CB-DE92-4DB8-96AE-5599794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26860500"/>
            <a:ext cx="8667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National Bureau of Statistics of China. (2025).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Average wage of employed persons in urban units in 2024.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Ministry of Education. (2024). College graduates in 2025.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MyCOS Research Institute. (2025). Chinese undergraduate employment report.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Zhang, X., et al. (2023). The future of ChatGPT-enabled labor market.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CGSS; CFPS; CHFS; Stanford HAI AI Index (2024).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AA84C7D-4B8D-4155-B30D-C4F3CBD0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31623000"/>
            <a:ext cx="866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Full URLs and data notes are supplied in poster_data_sources.md.</a:t>
            </a:r>
          </a:p>
        </p:txBody>
      </p:sp>
    </p:spTree>
    <p:extLst>
      <p:ext uri="{BB962C8B-B14F-4D97-AF65-F5344CB8AC3E}">
        <p14:creationId xmlns:p14="http://schemas.microsoft.com/office/powerpoint/2010/main" val="21383535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2026-06-09T07:26:29.4030000Z</dcterms:created>
  <dcterms:modified xsi:type="dcterms:W3CDTF">2026-06-09T07:26:29.4030000Z</dcterms:modified>
</coreProperties>
</file>